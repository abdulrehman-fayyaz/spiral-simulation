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75" r:id="rId3"/>
    <p:sldId id="263" r:id="rId4"/>
    <p:sldId id="260" r:id="rId5"/>
    <p:sldId id="262" r:id="rId6"/>
    <p:sldId id="264" r:id="rId7"/>
    <p:sldId id="267" r:id="rId8"/>
    <p:sldId id="276" r:id="rId9"/>
    <p:sldId id="268" r:id="rId10"/>
    <p:sldId id="272" r:id="rId11"/>
    <p:sldId id="269" r:id="rId12"/>
    <p:sldId id="270" r:id="rId13"/>
    <p:sldId id="271" r:id="rId14"/>
    <p:sldId id="273" r:id="rId15"/>
    <p:sldId id="277" r:id="rId16"/>
    <p:sldId id="279" r:id="rId17"/>
    <p:sldId id="274" r:id="rId18"/>
    <p:sldId id="280" r:id="rId19"/>
    <p:sldId id="283" r:id="rId20"/>
    <p:sldId id="282" r:id="rId21"/>
    <p:sldId id="281" r:id="rId22"/>
    <p:sldId id="284" r:id="rId23"/>
    <p:sldId id="285" r:id="rId24"/>
    <p:sldId id="278" r:id="rId25"/>
    <p:sldId id="287" r:id="rId26"/>
    <p:sldId id="288" r:id="rId27"/>
    <p:sldId id="290" r:id="rId28"/>
    <p:sldId id="289" r:id="rId29"/>
    <p:sldId id="291" r:id="rId30"/>
    <p:sldId id="294" r:id="rId31"/>
    <p:sldId id="292" r:id="rId32"/>
    <p:sldId id="293" r:id="rId33"/>
    <p:sldId id="295"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3" autoAdjust="0"/>
    <p:restoredTop sz="94660"/>
  </p:normalViewPr>
  <p:slideViewPr>
    <p:cSldViewPr snapToGrid="0" showGuides="1">
      <p:cViewPr varScale="1">
        <p:scale>
          <a:sx n="100" d="100"/>
          <a:sy n="100" d="100"/>
        </p:scale>
        <p:origin x="460" y="52"/>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37.087"/>
    </inkml:context>
    <inkml:brush xml:id="br0">
      <inkml:brushProperty name="width" value="0.035" units="cm"/>
      <inkml:brushProperty name="height" value="0.035" units="cm"/>
    </inkml:brush>
  </inkml:definitions>
  <inkml:trace contextRef="#ctx0" brushRef="#br0">128 937 1936,'-14'23'1015,"14"-23"-980,0 0 0,0 0-1,0 0 1,0 0 0,0 0 0,0 0-1,0-1 1,0 1 0,1 0 0,-1 0-1,0 0 1,0 0 0,0 0-1,0 0 1,0 0 0,1 0 0,-1 0-1,0 0 1,0 0 0,0 0 0,0 0-1,0 0 1,0 0 0,1 0-1,-1 0 1,0 0 0,0 0 0,0 1-1,0-1 1,0 0 0,0 0 0,1 0-1,-1 0 1,0 0 0,0 0-1,0 0 1,0 0 0,0 0 0,0 0-1,0 1 1,0-1 0,0 0 0,0 0-1,0 0 1,1 0 0,-1 0-1,0 0 1,0 1 0,0-1 0,0 0-1,0 0 1,0 0 0,0 0 0,0 0-1,0 1 1,0-1 0,0 0-1,0 0 1,0 0 0,0 0 0,0 0-1,-1 0 1,1 1 0,0-1 0,0 0-1,0 0 1,10-4 1022,-8 2-867,1 0 0,-1 0 1,0 0-1,0 0 0,0-1 1,-1 1-1,1-1 0,-1 1 1,1-1-1,-1 0 0,0 1 1,0-1-1,0 0 0,1-3 1,7-47 554,-7 40-594,4-52 43,-2 0 0,-3 0 0,-12-103 1,-47-190-1,57 344-251,6 23 21,8 23 50,107 284 905,-35-93-289,-70-181-494,-30-58 234,3 0-521,-1 1 0,-18-15 0,22 24 110,0 0-1,-1 1 1,1 0 0,-1 1 0,-1 0-1,1 0 1,0 1 0,-1 0 0,0 1-1,-18-1 1,20 2 29,1 1 0,0 0 0,0 0 0,-1 1 0,1 0 0,0 1 0,0 0 0,0 0 0,0 1 0,0 0 0,1 0 0,-1 0 0,1 1 1,-12 9-1,18-13 4,0 1 1,0 0-1,0-1 1,0 1-1,1 0 1,-1 0 0,0-1-1,1 1 1,-1 0-1,0 0 1,1 0 0,-1 0-1,1 0 1,-1 0-1,0 1 1,1-2 2,1 1 1,-1-1-1,0 0 1,0 1-1,0-1 0,0 0 1,0 0-1,0 1 1,1-1-1,-1 0 0,0 1 1,0-1-1,0 0 1,1 0-1,-1 0 1,0 1-1,0-1 0,1 0 1,-1 0-1,0 0 1,0 0-1,1 1 0,-1-1 1,0 0-1,0 0 1,1 0-1,-1 0 1,0 0-1,1 0 0,-1 0 1,1 0-1,2 0-4,0 1-1,1-1 1,-1-1-1,0 1 1,0 0-1,1-1 1,-1 0-1,5-1 1,5-4 12,-1-1 0,0 0 0,0-1 1,0 0-1,-1 0 0,0-2 0,-1 1 0,14-17 1,-5 4 10,-2 0 1,-1-2-1,17-31 0,-23 34-2,-1 1 0,0-2 0,-2 1 0,0-1 0,-2 0 0,0-1 0,-2 1 0,2-35 0,-5 43-13,0 0 0,-1 0-1,0 0 1,-1 0 0,0 1 0,-1-1 0,-1 1-1,0 0 1,-1-1 0,0 2 0,-1-1-1,-1 1 1,0 0 0,0 0 0,-11-11 0,18 23-2,0-1 1,-1 1 0,1-1 0,0 1-1,-1-1 1,1 1 0,-1-1 0,1 1-1,-1-1 1,1 1 0,-1 0 0,1-1-1,-1 1 1,1 0 0,-1-1 0,1 1-1,-1 0 1,0 0 0,1 0 0,-1-1-1,1 1 1,-1 0 0,0 0 0,-1 0-1,2 1 0,-1-1-1,1 0 0,0 1 1,-1-1-1,1 1 0,0 0 0,-1-1 1,1 1-1,0-1 0,-1 1 1,1-1-1,0 1 0,0 0 1,0-1-1,0 1 0,-1 0 0,1-1 1,0 1-1,0 0 0,3 39-90,-3-38 96,10 51 69,2-1 0,28 78 0,-10-39 89,35 144 142,69 200-82,-132-429-730,0 0 0,1 0 1,-1-1-1,2 1 0,6 10 1,-3-13-690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37.409"/>
    </inkml:context>
    <inkml:brush xml:id="br0">
      <inkml:brushProperty name="width" value="0.035" units="cm"/>
      <inkml:brushProperty name="height" value="0.035" units="cm"/>
    </inkml:brush>
  </inkml:definitions>
  <inkml:trace contextRef="#ctx0" brushRef="#br0">3 615 3505,'-3'-3'1728,"7"-5"-504,2-2-247,11-9-153,7-4-8,11-13-32,12-5-64,16-14-168,7-8-112,12-8-183,13 0-73,2 9-104,-2 5-128,-12 14-993,-18 9-1751,-22 16 1808</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38.262"/>
    </inkml:context>
    <inkml:brush xml:id="br0">
      <inkml:brushProperty name="width" value="0.035" units="cm"/>
      <inkml:brushProperty name="height" value="0.035" units="cm"/>
    </inkml:brush>
  </inkml:definitions>
  <inkml:trace contextRef="#ctx0" brushRef="#br0">11 14 2312,'-3'-2'7497,"6"-2"-5493,7-3-1774,-7 7-206,-1 0 0,0 0 0,1 1 1,-1-1-1,0 1 0,0-1 1,1 1-1,-1 0 0,0 0 1,0 0-1,0 0 0,0 1 1,0-1-1,0 0 0,-1 1 0,1 0 1,0-1-1,-1 1 0,1 0 1,-1 0-1,1 0 0,-1-1 1,0 2-1,0-1 0,0 0 1,1 2-1,0 1 14,0 0 1,0 0-1,-1 0 1,1 1 0,-1-1-1,-1 0 1,1 0-1,0 1 1,-1-1-1,-1 10 1,-1-6 19,0 1 1,-1-1-1,0 0 1,-5 10-1,6-15-36,0 0-1,0 0 1,0 0-1,-1-1 0,1 1 1,-1-1-1,0 1 1,0-1-1,0 0 0,-1 0 1,-3 3-1,6-6-18,1 0-1,-1 1 0,1-1 0,-1 0 1,1 0-1,-1 1 0,1-1 0,-1 0 1,0 0-1,1 0 0,-1 0 0,1 1 1,-1-1-1,1 0 0,-1 0 0,0 0 1,1 0-1,-1-1 0,1 1 0,-1 0 1,0 0-1,1 0 0,-1 0 1,1-1-1,-1 1 0,1 0 0,-1 0 1,0-1-1,0 0-1,0 0 0,0-1 0,0 1 0,1 0 0,-1 0 0,0 0 0,1-1 0,-1 1 0,1 0 0,-1 0 0,1-1 1,-1-1-1,1-1-4,-1 1 1,1-1 0,0 0 0,0 0 0,0 1 0,0-1 0,1 0-1,1-7 1,-1 10 4,-1 0 1,1 0-1,0 1 0,0-1 0,0 0 1,0 0-1,0 0 0,0 1 0,0-1 0,0 0 1,0 1-1,0-1 0,0 1 0,0-1 1,0 1-1,1-1 0,-1 1 0,0 0 0,0 0 1,1 0-1,-1 0 0,0 0 0,0 0 1,0 0-1,1 0 0,-1 0 0,0 0 0,0 1 1,0-1-1,3 1 0,40 16 111,-36-13-92,13 7-537,-14-5 300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39.096"/>
    </inkml:context>
    <inkml:brush xml:id="br0">
      <inkml:brushProperty name="width" value="0.035" units="cm"/>
      <inkml:brushProperty name="height" value="0.035" units="cm"/>
    </inkml:brush>
  </inkml:definitions>
  <inkml:trace contextRef="#ctx0" brushRef="#br0">25 50 1744,'-12'-40'1349,"12"39"-1278,0 1 1,0 0-1,0-1 1,0 1-1,0-1 1,-1 1-1,1 0 1,0-1-1,0 1 1,0-1-1,-1 1 1,1 0-1,0-1 1,0 1-1,-1 0 1,1-1-1,0 1 1,-1 0-1,1 0 1,0-1-1,-1 1 1,1 0-1,0 0 0,-1 0 1,1-1-1,-1 1 1,1 0-1,0 0 1,-1 0-1,1 0 1,-1 0-1,0 0 26,1 0-1,0 0 1,0 0 0,0 0-1,0 0 1,-1 1-1,1-1 1,0 0-1,0 0 1,0 0-1,0 1 1,-1-1-1,1 0 1,0 0-1,0 0 1,0 1-1,0-1 1,0 0-1,0 0 1,0 0-1,0 1 1,0-1-1,0 0 1,0 0-1,0 1 1,0-1-1,0 0 1,0 0-1,0 0 1,0 1-1,0-1 1,0 0 0,0 0-1,0 1 1,0-1-1,0 0 1,0 0-1,1 1 1,27 36 849,-3-5 343,-24-29-1196,1 0 1,-1-1-1,0 1 1,0 0-1,0 0 1,-1 0-1,1-1 1,-1 1-1,1 6 1,-1-8-72,0 1-1,0-1 1,0 1 0,0-1 0,0 1 0,-1-1 0,1 1 0,0-1-1,-1 1 1,1-1 0,-1 0 0,0 1 0,1-1 0,-1 0 0,0 0 0,0 1-1,1-1 1,-1 0 0,-2 2 0,-6 7 71,8-9-285,1 0 0,0 0-1,-1-1 1,1 1 0,-1 0 0,1-1 0,-1 1 0,1-1 0,-1 1-1,1-1 1,-1 1 0,0-1 0,1 1 0,-1-1 0,0 1 0,1-1 0,-1 0-1,0 1 1,1-1 0,-1 0 0,-1 1 0,-2-2-1000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39.318"/>
    </inkml:context>
    <inkml:brush xml:id="br0">
      <inkml:brushProperty name="width" value="0.035" units="cm"/>
      <inkml:brushProperty name="height" value="0.035" units="cm"/>
    </inkml:brush>
  </inkml:definitions>
  <inkml:trace contextRef="#ctx0" brushRef="#br0">0 75 2641,'0'-7'1832,"0"-1"-24,3 1-311,1-1-169,3 1-272,0-1-208,-3-2-384,0 3-135,-3 0-201,4 3-56,-1 2-441,1 3-727,-1-1 720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39.798"/>
    </inkml:context>
    <inkml:brush xml:id="br0">
      <inkml:brushProperty name="width" value="0.035" units="cm"/>
      <inkml:brushProperty name="height" value="0.035" units="cm"/>
    </inkml:brush>
  </inkml:definitions>
  <inkml:trace contextRef="#ctx0" brushRef="#br0">3 14 2953,'-3'-14'9478,"92"355"-8176,-26-81-1533,-48-212-483,-2-13 281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43.756"/>
    </inkml:context>
    <inkml:brush xml:id="br0">
      <inkml:brushProperty name="width" value="0.035" units="cm"/>
      <inkml:brushProperty name="height" value="0.035" units="cm"/>
    </inkml:brush>
  </inkml:definitions>
  <inkml:trace contextRef="#ctx0" brushRef="#br0">29 45 1360,'-12'-26'3679,"4"19"-499,7 7-3135,1 1 0,-1-1 1,1 1-1,-1-1 0,1 0 1,-1 1-1,1-1 0,0 1 1,-1-1-1,1 1 0,0-1 0,0 1 1,-1-1-1,1 1 0,0 0 1,0-1-1,0 1 0,-1-1 1,1 1-1,0 0 0,0-1 0,0 1 1,0 0-1,-1 7 39,1 0 1,-1 0-1,1 0 1,1-1-1,-1 1 0,1 0 1,1 0-1,0 0 1,0-1-1,0 1 0,1-1 1,0 0-1,7 13 1,-10-19-80,0-1 0,1 1 0,-1-1 1,1 1-1,-1 0 0,1-1 1,-1 1-1,0-1 0,1 1 0,0-1 1,-1 0-1,1 1 0,-1-1 0,1 1 1,0-1-1,-1 0 0,1 0 1,0 1-1,-1-1 0,1 0 0,0 0 1,-1 0-1,1 0 0,0 0 1,-1 0-1,1 0 0,0 0 0,0 0 1,-1 0-1,1 0 0,0 0 1,1-1 3,-1 0 1,0 0 0,0 0 0,1 0 0,-1 0 0,0 0 0,0-1 0,0 1 0,0 0 0,-1-1 0,1 1 0,0-1 0,0-1 0,2-3 22,0-1 0,-1 0 0,0 0 0,0-1 0,0-7 0,-2 9 2,0 0 0,-1-1 0,1 1 0,-1 0 0,-1 0 0,-2-8 0,4 12-44,0 0 0,-1 0 0,0 0 1,1 1-1,-1-1 0,0 0 1,0 1-1,0-1 0,0 1 0,0-1 1,0 1-1,-1-1 0,1 1 1,0 0-1,-1 0 0,1 0 0,-1 0 1,1 0-1,-1 0 0,1 0 1,-1 0-1,0 0 0,0 1 0,1-1 1,-4 0-1,4 1-84,0 0-1,1 0 1,-1 0 0,0 0 0,1 0-1,-1 1 1,0-1 0,1 0-1,-1 0 1,0 1 0,1-1 0,-1 0-1,0 1 1,1-1 0,-1 1-1,1-1 1,-1 0 0,1 1 0,-1 0-1,-4 7-558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44.302"/>
    </inkml:context>
    <inkml:brush xml:id="br0">
      <inkml:brushProperty name="width" value="0.035" units="cm"/>
      <inkml:brushProperty name="height" value="0.035" units="cm"/>
    </inkml:brush>
  </inkml:definitions>
  <inkml:trace contextRef="#ctx0" brushRef="#br0">0 49 3097,'6'-11'676,"-4"7"181,0 0 0,0 0 0,0 0 1,0 1-1,1-1 0,5-5 0,-7 8-803,-1 0 0,1 1 1,0-1-1,0 1 0,0-1 0,0 1 1,0 0-1,0-1 0,0 1 1,0 0-1,0 0 0,0 0 1,0 0-1,0 0 0,0 0 1,0 0-1,0 0 0,0 0 1,0 0-1,0 0 0,0 0 0,0 1 1,0-1-1,0 0 0,0 1 1,0-1-1,-1 1 0,1-1 1,0 1-1,0 0 0,0-1 1,-1 1-1,1 0 0,0-1 1,1 3-1,1 0-22,1 1-1,-1 1 1,0-1 0,0 0 0,0 1-1,-1-1 1,0 1 0,1 0 0,-2-1-1,1 1 1,0 0 0,-1 1 0,0-1-1,0 0 1,-1 0 0,1 6 0,-1-1 23,-1 1 0,0 0 0,0-1 0,-1 1 0,0-1 0,-6 19 0,7-28-52,1 0-1,0 0 1,-1 0-1,1 1 0,-1-1 1,1 0-1,-1 0 1,1 0-1,-1-1 1,0 1-1,0 0 0,1 0 1,-1 0-1,0 0 1,0-1-1,0 1 1,-1 1-1,1-2-3,1 0 0,-1 0 0,1 0 0,-1 0 0,1 0 0,-1 0 0,1 0 0,-1 0 0,1 0 0,-1 0 0,1-1-1,-1 1 1,1 0 0,0 0 0,-1 0 0,1-1 0,-1 1 0,1 0 0,0 0 0,-1-1 0,1 1 0,0 0 0,-1-1 0,1 1 0,0-1 0,-1 1 0,1-1 0,-1-1 2,0 1-1,0-1 1,0 0 0,0 0 0,1 1-1,-1-1 1,1 0 0,0 0 0,-1 0 0,1 0-1,0 0 1,0 1 0,0-1 0,0 0-1,0 0 1,1 0 0,-1 0 0,0 0 0,1 0-1,0-1 1,0 2 1,-1 0 0,1 0 1,-1 0-1,1 0 0,-1 0 0,1 0 1,0 0-1,0 1 0,-1-1 0,1 0 0,0 0 1,0 1-1,0-1 0,0 0 0,0 1 1,0-1-1,0 1 0,0-1 0,0 1 0,0 0 1,0 0-1,0-1 0,0 1 0,0 0 1,1 0-1,27 7-33,-6-1-1275,-14-5 823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44.730"/>
    </inkml:context>
    <inkml:brush xml:id="br0">
      <inkml:brushProperty name="width" value="0.035" units="cm"/>
      <inkml:brushProperty name="height" value="0.035" units="cm"/>
    </inkml:brush>
  </inkml:definitions>
  <inkml:trace contextRef="#ctx0" brushRef="#br0">0 1 2729,'10'18'6135,"6"27"-4837,-6-16-662,52 185 892,-1-4-2966,-49-181-85,-1-10 576</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45.570"/>
    </inkml:context>
    <inkml:brush xml:id="br0">
      <inkml:brushProperty name="width" value="0.035" units="cm"/>
      <inkml:brushProperty name="height" value="0.035" units="cm"/>
    </inkml:brush>
  </inkml:definitions>
  <inkml:trace contextRef="#ctx0" brushRef="#br0">0 53 2737,'1'-4'806,"-1"0"0,1 0 0,0 0 0,0-1 0,0 1 0,3-4 0,-4 7-775,0 1 1,0-1-1,0 1 1,1-1-1,-1 1 1,0-1-1,0 1 0,1 0 1,-1-1-1,0 1 1,1-1-1,-1 1 1,1-1-1,-1 1 1,0 0-1,1-1 1,-1 1-1,1 0 1,-1 0-1,1-1 1,-1 1-1,1 0 1,-1 0-1,1 0 1,0 0-1,-1-1 1,1 1-1,-1 0 1,1 0-1,-1 0 1,1 0-1,-1 0 1,1 0-1,-1 1 0,1-1 1,0 0-1,-1 0 1,1 0-1,-1 0 1,1 1-1,-1-1 1,1 0-1,-1 0 1,1 1-1,-1-1 1,0 0-1,1 1 1,-1-1-1,1 1 1,-1-1-1,0 1 1,1-1-1,-1 0 1,0 1-1,0-1 1,1 1-1,-1-1 1,0 1-1,0 0 1,3 2 17,-1 1 0,0-1 0,-1 0 0,1 1 0,-1 0 1,1-1-1,-1 1 0,0 0 0,0 0 0,-1 0 0,1-1 1,-1 5-1,0 5 31,-1-1 0,-3 18-1,3-19-14,-1 1 0,1 20 0,1-32-65,0 0 0,0 0 0,0 0-1,0 0 1,0 0 0,0 0 0,0 1 0,0-1 0,0 0-1,0 0 1,0 0 0,0 0 0,0 0 0,0 0 0,0 0 0,0 0-1,0 1 1,0-1 0,0 0 0,0 0 0,0 0 0,0 0-1,0 0 1,0 0 0,1 0 0,-1 0 0,0 0 0,0 0-1,0 0 1,0 0 0,0 0 0,0 1 0,0-1 0,0 0-1,1 0 1,-1 0 0,0 0 0,0 0 0,0 0 0,0 0-1,0 0 1,0 0 0,0 0 0,0 0 0,1 0 0,-1 0 0,0 0-1,0 0 1,0 0 0,0-1 0,0 1 0,0 0 0,0 0-1,0 0 1,1 0 0,-1 0 0,0 0 0,0 0 0,0 0-1,9-8 26,6-11 57,-1-4 290,8-19-4952,-19 36 3884,-1 0-1,0 0 1,0 0-1,-1-1 1,1-5-1,-4-16 1784,2 28-1005,0-1 0,0 1 0,0 0 0,0 0-1,0 0 1,0 0 0,0 0 0,0-1 0,0 1 0,0 0-1,0 0 1,0 0 0,0 0 0,0 0 0,0-1 0,0 1-1,0 0 1,0 0 0,0 0 0,-1 0 0,1 0 0,0-1 0,0 1-1,0 0 1,0 0 0,0 0 0,0 0 0,0 0 0,-1 0-1,1 0 1,0 0 0,0 0 0,0-1 0,0 1 0,0 0-1,-1 0 1,1 0 0,0 0 0,0 0 0,0 0 0,0 0 0,-1 0-1,1 0 1,0 0 0,0 0 0,0 0 0,0 0 0,0 0-1,-1 0 1,1 0 0,0 0 0,0 1 0,0-1 0,0 0-1,0 0 1,-1 0 0,1 0 0,0 0 0,0 0 0,0 0-1,0 0 1,0 1 0,0-1 0,0 0 0,0 0 0,-1 0 0,-3 12 1577,3-4-1552,1 0 0,0 0 0,0 0 0,2 11-1,-2-18-98,0 1 0,0 0-1,1 0 1,-1-1-1,0 1 1,1 0 0,0-1-1,-1 1 1,1-1-1,0 1 1,0 0-1,-1-1 1,1 0 0,1 1-1,-1-1 1,0 0-1,0 1 1,0-1 0,1 0-1,-1 0 1,0 0-1,1 0 1,-1 0 0,1 0-1,-1 0 1,1-1-1,1 1 1,-1-1 1,-1 0 0,0 0 0,0 0 0,1 0 0,-1-1-1,0 1 1,0 0 0,0-1 0,1 1 0,-1-1 0,0 1 0,0-1 0,0 0 0,0 0 0,0 1 0,0-1 0,0 0 0,0 0 0,0 0-1,-1 0 1,1 0 0,0 0 0,-1 0 0,1 0 0,0 0 0,-1 0 0,1-1 0,-1 1 0,0 0 0,1 0 0,-1 0 0,0-1 0,0-1-1,1-1 24,0 1-1,-1-1 0,1 0 0,-1 0 0,0 1 0,0-1 0,-1 0 0,1 0 0,-1 0 0,-1-4 0,-16-20 208,18 27-285,-1 0 0,0 0 0,0 0 0,0 0 0,0 0-1,0 0 1,0 0 0,0 0 0,0 1 0,0-1 0,0 0-1,-1 1 1,1-1 0,0 1 0,0-1 0,-1 1 0,1 0-1,0-1 1,-1 1 0,1 0 0,0 0 0,-2 0 0,-2 6-2848,5 0 1971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45.969"/>
    </inkml:context>
    <inkml:brush xml:id="br0">
      <inkml:brushProperty name="width" value="0.035" units="cm"/>
      <inkml:brushProperty name="height" value="0.035" units="cm"/>
    </inkml:brush>
  </inkml:definitions>
  <inkml:trace contextRef="#ctx0" brushRef="#br0">1 57 2873,'5'-24'3204,"-2"9"-8,-3 14-3109,0 0 0,0 1 0,0-1 1,0 0-1,0 0 0,0 1 0,1-1 1,-1 0-1,0 1 0,1-1 0,-1 0 1,0 1-1,1-1 0,-1 0 1,1 1-1,-1-1 0,1 1 0,-1-1 1,1 1-1,0-1 0,-1 1 0,1-1 1,-1 1-1,1-1 0,0 1 0,-1 0 1,1 0-1,0-1 0,0 1 0,-1 0 1,1 0-1,0 0 0,0 0 0,-1 0 1,1-1-1,0 2 0,0-1 0,1 0 1,-1 0-47,1 1 1,-1 0 0,1-1 0,-1 1 0,0 0-1,1-1 1,-1 1 0,0 0 0,0 0 0,1 0-1,-1 0 1,0 1 0,0-1 0,0 0-1,-1 0 1,1 1 0,0-1 0,1 3 0,0 2-3,-1 1 1,1 0 0,-2 0 0,1 0 0,0 0 0,-1 0 0,-1 0 0,1 0 0,-1 0 0,0 0 0,-1 0 0,-3 10 0,-4 31 130,11-47-165,5-5 6,9-11 15,-12 11-15,18-14-312,0 1-3529,-14 8 2279</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26T15:17:46.404"/>
    </inkml:context>
    <inkml:brush xml:id="br0">
      <inkml:brushProperty name="width" value="0.035" units="cm"/>
      <inkml:brushProperty name="height" value="0.035" units="cm"/>
    </inkml:brush>
  </inkml:definitions>
  <inkml:trace contextRef="#ctx0" brushRef="#br0">21 16 3129,'-2'-14'5437,"-1"12"-3184,-1 10-1374,0 14-476,1 0 0,-2 32 0,5-46-362,0 0 1,1 0-1,-1 0 1,2 0-1,-1 0 1,1 0-1,0 0 1,1-1-1,-1 1 0,5 7 1,-5-13-33,-1 0-1,1 0 1,-1 0 0,1 0-1,0 0 1,0-1 0,0 1-1,0-1 1,0 1 0,0-1-1,0 1 1,0-1 0,1 0-1,-1 0 1,0 0 0,1-1-1,-1 1 1,1 0 0,-1-1-1,5 1 1,-6-1 3,1 0-1,-1-1 1,1 1 0,-1 0-1,0 0 1,1-1-1,-1 1 1,0 0 0,0-1-1,1 0 1,-1 1-1,0-1 1,0 0 0,0 1-1,1-1 1,-1 0 0,0 0-1,0 0 1,0 0-1,-1 0 1,1 0 0,0 0-1,0 0 1,0-1-1,-1 1 1,1 0 0,-1 0-1,1-1 1,-1 1 0,1 0-1,-1-1 1,0 1-1,0 0 1,0-1 0,1 1-1,-1 0 1,-1-1-1,1 1 1,0-2 0,0 2-5,0 0 1,0 0 0,0 0 0,1 0-1,-1 0 1,0 1 0,-1-1 0,1 0-1,0 0 1,0 0 0,0 0-1,0 0 1,-1 1 0,1-1 0,0 0-1,-1 0 1,1 0 0,-1 1 0,1-1-1,-1 0 1,1 0 0,-1 1 0,1-1-1,-1 1 1,0-1 0,1 0 0,-1 1-1,0-1 1,0 1 0,1 0-1,-1-1 1,0 1 0,0-1 0,0 1-1,0 0 1,1 0 0,-1 0 0,0-1-1,0 1 1,0 0 0,-1 0 0,0 1-73,-1 0 0,1-1 0,0 1 0,-1 0 1,1 0-1,0 0 0,0 1 0,0-1 1,0 0-1,0 1 0,0-1 0,1 1 0,-1 0 1,-2 3-1,-7 12-1303,2 3 535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E77824-E5EA-43DD-9E8A-A237365D4202}" type="datetimeFigureOut">
              <a:rPr lang="en-US" smtClean="0"/>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52A164-EA0E-4E82-A827-7CCD7D0FB7F3}" type="slidenum">
              <a:rPr lang="en-US" smtClean="0"/>
              <a:t>‹#›</a:t>
            </a:fld>
            <a:endParaRPr lang="en-US"/>
          </a:p>
        </p:txBody>
      </p:sp>
    </p:spTree>
    <p:extLst>
      <p:ext uri="{BB962C8B-B14F-4D97-AF65-F5344CB8AC3E}">
        <p14:creationId xmlns:p14="http://schemas.microsoft.com/office/powerpoint/2010/main" val="4238813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052A164-EA0E-4E82-A827-7CCD7D0FB7F3}" type="slidenum">
              <a:rPr lang="en-US" smtClean="0"/>
              <a:t>14</a:t>
            </a:fld>
            <a:endParaRPr lang="en-US"/>
          </a:p>
        </p:txBody>
      </p:sp>
    </p:spTree>
    <p:extLst>
      <p:ext uri="{BB962C8B-B14F-4D97-AF65-F5344CB8AC3E}">
        <p14:creationId xmlns:p14="http://schemas.microsoft.com/office/powerpoint/2010/main" val="28439232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ADA0D-8E57-46C2-E178-6AD9865C4D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0BF591B-0976-8951-F31D-F31E899CE4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8378D1-CD44-B0B1-C90B-8B64778F324B}"/>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5" name="Footer Placeholder 4">
            <a:extLst>
              <a:ext uri="{FF2B5EF4-FFF2-40B4-BE49-F238E27FC236}">
                <a16:creationId xmlns:a16="http://schemas.microsoft.com/office/drawing/2014/main" id="{81953440-B985-4D7E-BFB4-EE438BA2DA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2B1EA2-1AD3-2011-C451-2AB49A16EF14}"/>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4173916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BA119-833C-8982-C410-DC26175D8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57A0CF-6D9A-2981-C2C6-A7FCAB83ADD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39A39F-CCEA-939D-442F-951EBC7C1F2F}"/>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5" name="Footer Placeholder 4">
            <a:extLst>
              <a:ext uri="{FF2B5EF4-FFF2-40B4-BE49-F238E27FC236}">
                <a16:creationId xmlns:a16="http://schemas.microsoft.com/office/drawing/2014/main" id="{EBD24D64-5D77-B876-B041-0FAC2D2C01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E8241A-2027-890A-2ED3-7AD29B71FBE8}"/>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2092124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44815-6DB6-649C-6CD7-FC492498490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FFB43C-8CAB-6CE0-91D4-36EF8758A8F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5C7EE8-0717-BBF6-730F-0E29824BB2AA}"/>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5" name="Footer Placeholder 4">
            <a:extLst>
              <a:ext uri="{FF2B5EF4-FFF2-40B4-BE49-F238E27FC236}">
                <a16:creationId xmlns:a16="http://schemas.microsoft.com/office/drawing/2014/main" id="{722AB23A-5DC7-8EB7-7744-4B65F7DEB7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BE4DE1-E03C-618D-75E7-7D8C340CF55F}"/>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237641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30045-F311-80F2-BA74-9985E73716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7DFBD4-8D06-68BD-9764-6AD3BD6439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663822-23BD-5793-11FA-33CC1684DD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3FD3AE-A57C-19AA-CEBA-F0A03EC51F48}"/>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6" name="Footer Placeholder 5">
            <a:extLst>
              <a:ext uri="{FF2B5EF4-FFF2-40B4-BE49-F238E27FC236}">
                <a16:creationId xmlns:a16="http://schemas.microsoft.com/office/drawing/2014/main" id="{DB6479AF-2135-929B-D647-32B5D1BEE6A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BBC1DB-2159-26A4-70B6-16666A609E8C}"/>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4216665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886CB-249A-49C7-125A-605512A38E4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CC8EA83-68C2-A64F-69B4-FB09786D81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60D736-000E-6593-56B5-400FFEBB26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3A93A1-8C89-583B-82BB-2BEAC6C4E2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6953CC-2A46-7FCB-F6F8-965CB469A3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D4C6D4-3C74-E19A-2F7F-BA90763B2A46}"/>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8" name="Footer Placeholder 7">
            <a:extLst>
              <a:ext uri="{FF2B5EF4-FFF2-40B4-BE49-F238E27FC236}">
                <a16:creationId xmlns:a16="http://schemas.microsoft.com/office/drawing/2014/main" id="{E1AA119A-9BCA-113C-AA7A-33EDD31C91C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DFA4CFA-0FBF-8BE6-CC11-F130F38C94DA}"/>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4089116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AC005-06A4-1A38-58C0-D0AA78FEF2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63FEF47-B5E7-9C91-E260-46B879A9FBF5}"/>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4" name="Footer Placeholder 3">
            <a:extLst>
              <a:ext uri="{FF2B5EF4-FFF2-40B4-BE49-F238E27FC236}">
                <a16:creationId xmlns:a16="http://schemas.microsoft.com/office/drawing/2014/main" id="{08EF6297-80DE-EC1C-784F-F3584FD7B5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16F83ED-4F85-EB42-370D-31F3362928A8}"/>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26124512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C693E4-44C8-DA58-BB65-C9011AD14280}"/>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3" name="Footer Placeholder 2">
            <a:extLst>
              <a:ext uri="{FF2B5EF4-FFF2-40B4-BE49-F238E27FC236}">
                <a16:creationId xmlns:a16="http://schemas.microsoft.com/office/drawing/2014/main" id="{3DBA1604-F5F1-4873-B714-C37CF17468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C9A8B0-8043-51EF-B3EF-2502C52AD65E}"/>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2670901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3043-F48D-2898-2079-1A38338473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E16CCA-E719-C7B0-DD2A-8581CFA89C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058DF3A-BE81-CE82-A3B4-E415A1FCF3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F10FACF-E402-CEEB-2D6C-B7D0E971C212}"/>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6" name="Footer Placeholder 5">
            <a:extLst>
              <a:ext uri="{FF2B5EF4-FFF2-40B4-BE49-F238E27FC236}">
                <a16:creationId xmlns:a16="http://schemas.microsoft.com/office/drawing/2014/main" id="{B424ABB6-DFC7-B353-C97E-3CAEB3AF42C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86F63C-21BF-D1FD-1357-71799A62BCB3}"/>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4283608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92221-3CC1-EAE6-3D65-A8D853A668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603C264-379D-5486-A1CA-10D2EB7988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1BE770-C3A5-FA85-C3B8-2526D72C25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B925CD-C09F-D44F-A811-F2700A6AD6A3}"/>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6" name="Footer Placeholder 5">
            <a:extLst>
              <a:ext uri="{FF2B5EF4-FFF2-40B4-BE49-F238E27FC236}">
                <a16:creationId xmlns:a16="http://schemas.microsoft.com/office/drawing/2014/main" id="{FCE7831B-117B-6F1E-2F7A-7005D25D45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F06A39-C7DA-E7B6-EBE2-891CF86A128F}"/>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11760788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EB56D-5B1F-7E3D-C437-C93A7D12A4D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5F04D3-387F-5E9D-C6F7-4F54B21270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6206C7-3F14-27E3-5C18-1C894DD422F3}"/>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5" name="Footer Placeholder 4">
            <a:extLst>
              <a:ext uri="{FF2B5EF4-FFF2-40B4-BE49-F238E27FC236}">
                <a16:creationId xmlns:a16="http://schemas.microsoft.com/office/drawing/2014/main" id="{FEBB6E0E-6A1B-281A-1226-8053A8E77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F1181-3A00-71B2-CDD4-EF3F0797016B}"/>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3794982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0348543-8003-0B80-4FED-DCF9D5EB00C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B664434-9146-619A-DE76-1690644F0D5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3FE21-8BE5-CEE1-4BC0-4AD3A65FA9D6}"/>
              </a:ext>
            </a:extLst>
          </p:cNvPr>
          <p:cNvSpPr>
            <a:spLocks noGrp="1"/>
          </p:cNvSpPr>
          <p:nvPr>
            <p:ph type="dt" sz="half" idx="10"/>
          </p:nvPr>
        </p:nvSpPr>
        <p:spPr/>
        <p:txBody>
          <a:bodyPr/>
          <a:lstStyle/>
          <a:p>
            <a:fld id="{3AFE6011-E8F0-409C-BC38-BA90762E7D71}" type="datetimeFigureOut">
              <a:rPr lang="en-US" smtClean="0"/>
              <a:t>9/16/2026</a:t>
            </a:fld>
            <a:endParaRPr lang="en-US"/>
          </a:p>
        </p:txBody>
      </p:sp>
      <p:sp>
        <p:nvSpPr>
          <p:cNvPr id="5" name="Footer Placeholder 4">
            <a:extLst>
              <a:ext uri="{FF2B5EF4-FFF2-40B4-BE49-F238E27FC236}">
                <a16:creationId xmlns:a16="http://schemas.microsoft.com/office/drawing/2014/main" id="{5900AA6B-3896-04B3-9184-A9693723FB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2DBBF9-622B-87E5-E188-785EE892E296}"/>
              </a:ext>
            </a:extLst>
          </p:cNvPr>
          <p:cNvSpPr>
            <a:spLocks noGrp="1"/>
          </p:cNvSpPr>
          <p:nvPr>
            <p:ph type="sldNum" sz="quarter" idx="12"/>
          </p:nvPr>
        </p:nvSpPr>
        <p:spPr/>
        <p:txBody>
          <a:bodyPr/>
          <a:lstStyle/>
          <a:p>
            <a:fld id="{68269C11-D788-47AE-B956-23ABC08C0935}" type="slidenum">
              <a:rPr lang="en-US" smtClean="0"/>
              <a:t>‹#›</a:t>
            </a:fld>
            <a:endParaRPr lang="en-US"/>
          </a:p>
        </p:txBody>
      </p:sp>
    </p:spTree>
    <p:extLst>
      <p:ext uri="{BB962C8B-B14F-4D97-AF65-F5344CB8AC3E}">
        <p14:creationId xmlns:p14="http://schemas.microsoft.com/office/powerpoint/2010/main" val="38202606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BDEEE8-A2B7-D2B1-C65F-A224FFB6F4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78D4F60-DAED-47B2-48AD-7FDABD3CF6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5AE906-5DCA-444B-DB9B-E40DA5547C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FE6011-E8F0-409C-BC38-BA90762E7D71}" type="datetimeFigureOut">
              <a:rPr lang="en-US" smtClean="0"/>
              <a:t>9/16/2026</a:t>
            </a:fld>
            <a:endParaRPr lang="en-US"/>
          </a:p>
        </p:txBody>
      </p:sp>
      <p:sp>
        <p:nvSpPr>
          <p:cNvPr id="5" name="Footer Placeholder 4">
            <a:extLst>
              <a:ext uri="{FF2B5EF4-FFF2-40B4-BE49-F238E27FC236}">
                <a16:creationId xmlns:a16="http://schemas.microsoft.com/office/drawing/2014/main" id="{39B198A2-15EA-9D3C-9BDA-890EC5DA0E4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606AA3D-EE39-DC9A-8DC3-67176E9212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269C11-D788-47AE-B956-23ABC08C0935}" type="slidenum">
              <a:rPr lang="en-US" smtClean="0"/>
              <a:t>‹#›</a:t>
            </a:fld>
            <a:endParaRPr lang="en-US"/>
          </a:p>
        </p:txBody>
      </p:sp>
    </p:spTree>
    <p:extLst>
      <p:ext uri="{BB962C8B-B14F-4D97-AF65-F5344CB8AC3E}">
        <p14:creationId xmlns:p14="http://schemas.microsoft.com/office/powerpoint/2010/main" val="38760920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AbdulRehman-Fayyaz/Spiral-Simulation"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bdulRehman-Fayyaz/Spiral-Simulation" TargetMode="External"/><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oleObject" Target="../embeddings/oleObject1.bin"/><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AbdulRehman-Fayyaz/Spiral-Simulation"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oleObject" Target="../embeddings/oleObject2.bin"/><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AbdulRehman-Fayyaz/Spiral-Simulation" TargetMode="Externa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1" Type="http://schemas.openxmlformats.org/officeDocument/2006/relationships/slideLayout" Target="../slideLayouts/slideLayout9.xml"/><Relationship Id="rId5" Type="http://schemas.openxmlformats.org/officeDocument/2006/relationships/image" Target="../media/image15.emf"/><Relationship Id="rId4" Type="http://schemas.openxmlformats.org/officeDocument/2006/relationships/oleObject" Target="../embeddings/oleObject3.bin"/></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ithub.com/AbdulRehman-Fayyaz/Spiral-Simulation" TargetMode="Externa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9.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8" Type="http://schemas.openxmlformats.org/officeDocument/2006/relationships/customXml" Target="../ink/ink3.xml"/><Relationship Id="rId13" Type="http://schemas.openxmlformats.org/officeDocument/2006/relationships/image" Target="../media/image38.png"/><Relationship Id="rId18" Type="http://schemas.openxmlformats.org/officeDocument/2006/relationships/customXml" Target="../ink/ink8.xml"/><Relationship Id="rId26" Type="http://schemas.openxmlformats.org/officeDocument/2006/relationships/customXml" Target="../ink/ink12.xml"/><Relationship Id="rId3" Type="http://schemas.openxmlformats.org/officeDocument/2006/relationships/hyperlink" Target="https://github.com/AbdulRehman-Fayyaz/Spiral-Simulation" TargetMode="External"/><Relationship Id="rId21" Type="http://schemas.openxmlformats.org/officeDocument/2006/relationships/image" Target="../media/image42.png"/><Relationship Id="rId7" Type="http://schemas.openxmlformats.org/officeDocument/2006/relationships/image" Target="../media/image35.png"/><Relationship Id="rId12" Type="http://schemas.openxmlformats.org/officeDocument/2006/relationships/customXml" Target="../ink/ink5.xml"/><Relationship Id="rId17" Type="http://schemas.openxmlformats.org/officeDocument/2006/relationships/image" Target="../media/image40.png"/><Relationship Id="rId25" Type="http://schemas.openxmlformats.org/officeDocument/2006/relationships/image" Target="../media/image44.png"/><Relationship Id="rId2" Type="http://schemas.openxmlformats.org/officeDocument/2006/relationships/image" Target="../media/image2.png"/><Relationship Id="rId16" Type="http://schemas.openxmlformats.org/officeDocument/2006/relationships/customXml" Target="../ink/ink7.xml"/><Relationship Id="rId20" Type="http://schemas.openxmlformats.org/officeDocument/2006/relationships/customXml" Target="../ink/ink9.xml"/><Relationship Id="rId1" Type="http://schemas.openxmlformats.org/officeDocument/2006/relationships/slideLayout" Target="../slideLayouts/slideLayout1.xml"/><Relationship Id="rId6" Type="http://schemas.openxmlformats.org/officeDocument/2006/relationships/customXml" Target="../ink/ink2.xml"/><Relationship Id="rId11" Type="http://schemas.openxmlformats.org/officeDocument/2006/relationships/image" Target="../media/image37.png"/><Relationship Id="rId24" Type="http://schemas.openxmlformats.org/officeDocument/2006/relationships/customXml" Target="../ink/ink11.xml"/><Relationship Id="rId5" Type="http://schemas.openxmlformats.org/officeDocument/2006/relationships/image" Target="../media/image34.png"/><Relationship Id="rId15" Type="http://schemas.openxmlformats.org/officeDocument/2006/relationships/image" Target="../media/image39.png"/><Relationship Id="rId23" Type="http://schemas.openxmlformats.org/officeDocument/2006/relationships/image" Target="../media/image43.png"/><Relationship Id="rId10" Type="http://schemas.openxmlformats.org/officeDocument/2006/relationships/customXml" Target="../ink/ink4.xml"/><Relationship Id="rId19" Type="http://schemas.openxmlformats.org/officeDocument/2006/relationships/image" Target="../media/image41.png"/><Relationship Id="rId4" Type="http://schemas.openxmlformats.org/officeDocument/2006/relationships/customXml" Target="../ink/ink1.xml"/><Relationship Id="rId9" Type="http://schemas.openxmlformats.org/officeDocument/2006/relationships/image" Target="../media/image36.png"/><Relationship Id="rId14" Type="http://schemas.openxmlformats.org/officeDocument/2006/relationships/customXml" Target="../ink/ink6.xml"/><Relationship Id="rId22" Type="http://schemas.openxmlformats.org/officeDocument/2006/relationships/customXml" Target="../ink/ink10.xml"/><Relationship Id="rId27"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D128A1-5D21-172F-8F0F-3C5A4C93D5D2}"/>
              </a:ext>
            </a:extLst>
          </p:cNvPr>
          <p:cNvPicPr>
            <a:picLocks noChangeAspect="1"/>
          </p:cNvPicPr>
          <p:nvPr/>
        </p:nvPicPr>
        <p:blipFill>
          <a:blip r:embed="rId2">
            <a:alphaModFix amt="20000"/>
          </a:blip>
          <a:srcRect l="2056" t="14886" r="2056" b="13198"/>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6F4992-ADA1-DE54-BAB1-7B4D1D9D9CDD}"/>
              </a:ext>
            </a:extLst>
          </p:cNvPr>
          <p:cNvSpPr>
            <a:spLocks noGrp="1"/>
          </p:cNvSpPr>
          <p:nvPr>
            <p:ph type="ctrTitle"/>
          </p:nvPr>
        </p:nvSpPr>
        <p:spPr/>
        <p:txBody>
          <a:bodyPr/>
          <a:lstStyle/>
          <a:p>
            <a:r>
              <a:rPr lang="en-US" b="1" dirty="0"/>
              <a:t>Curling Spiral (Outer Spine)</a:t>
            </a:r>
          </a:p>
        </p:txBody>
      </p:sp>
      <p:sp>
        <p:nvSpPr>
          <p:cNvPr id="3" name="Subtitle 2">
            <a:extLst>
              <a:ext uri="{FF2B5EF4-FFF2-40B4-BE49-F238E27FC236}">
                <a16:creationId xmlns:a16="http://schemas.microsoft.com/office/drawing/2014/main" id="{1E43BD30-E6EE-0A89-4E33-96DD953491EE}"/>
              </a:ext>
            </a:extLst>
          </p:cNvPr>
          <p:cNvSpPr>
            <a:spLocks noGrp="1"/>
          </p:cNvSpPr>
          <p:nvPr>
            <p:ph type="subTitle" idx="1"/>
          </p:nvPr>
        </p:nvSpPr>
        <p:spPr/>
        <p:txBody>
          <a:bodyPr/>
          <a:lstStyle/>
          <a:p>
            <a:r>
              <a:rPr lang="en-US" dirty="0"/>
              <a:t>Weekly Tasks summary</a:t>
            </a:r>
            <a:br>
              <a:rPr lang="en-US" dirty="0"/>
            </a:br>
            <a:endParaRPr lang="en-US" dirty="0"/>
          </a:p>
        </p:txBody>
      </p:sp>
      <p:sp>
        <p:nvSpPr>
          <p:cNvPr id="4" name="Subtitle 2">
            <a:extLst>
              <a:ext uri="{FF2B5EF4-FFF2-40B4-BE49-F238E27FC236}">
                <a16:creationId xmlns:a16="http://schemas.microsoft.com/office/drawing/2014/main" id="{82885990-BEA4-CDB5-5354-9C8F9E06CAA1}"/>
              </a:ext>
            </a:extLst>
          </p:cNvPr>
          <p:cNvSpPr txBox="1">
            <a:spLocks/>
          </p:cNvSpPr>
          <p:nvPr/>
        </p:nvSpPr>
        <p:spPr>
          <a:xfrm>
            <a:off x="9272603" y="6566175"/>
            <a:ext cx="3749505" cy="425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Project folder on </a:t>
            </a:r>
            <a:r>
              <a:rPr lang="en-US" sz="1600" dirty="0">
                <a:hlinkClick r:id="rId3"/>
              </a:rPr>
              <a:t>Github</a:t>
            </a:r>
            <a:r>
              <a:rPr lang="en-US" sz="1600" dirty="0"/>
              <a:t>  </a:t>
            </a:r>
          </a:p>
        </p:txBody>
      </p:sp>
      <p:pic>
        <p:nvPicPr>
          <p:cNvPr id="6" name="Picture 5">
            <a:extLst>
              <a:ext uri="{FF2B5EF4-FFF2-40B4-BE49-F238E27FC236}">
                <a16:creationId xmlns:a16="http://schemas.microsoft.com/office/drawing/2014/main" id="{27037D9F-FB74-BA5E-F92C-840370596B6B}"/>
              </a:ext>
            </a:extLst>
          </p:cNvPr>
          <p:cNvPicPr>
            <a:picLocks noChangeAspect="1"/>
          </p:cNvPicPr>
          <p:nvPr/>
        </p:nvPicPr>
        <p:blipFill>
          <a:blip r:embed="rId4">
            <a:alphaModFix/>
            <a:extLst>
              <a:ext uri="{28A0092B-C50C-407E-A947-70E740481C1C}">
                <a14:useLocalDpi xmlns:a14="http://schemas.microsoft.com/office/drawing/2010/main" val="0"/>
              </a:ext>
            </a:extLst>
          </a:blip>
          <a:srcRect/>
          <a:stretch>
            <a:fillRect/>
          </a:stretch>
        </p:blipFill>
        <p:spPr bwMode="auto">
          <a:xfrm>
            <a:off x="175098" y="110769"/>
            <a:ext cx="1593194" cy="1593194"/>
          </a:xfrm>
          <a:prstGeom prst="rect">
            <a:avLst/>
          </a:prstGeom>
          <a:noFill/>
          <a:ln>
            <a:noFill/>
          </a:ln>
        </p:spPr>
      </p:pic>
    </p:spTree>
    <p:extLst>
      <p:ext uri="{BB962C8B-B14F-4D97-AF65-F5344CB8AC3E}">
        <p14:creationId xmlns:p14="http://schemas.microsoft.com/office/powerpoint/2010/main" val="1241360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FDF79-031C-90D1-F6C4-A78FC2FD59D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78D036FB-566A-5801-4321-C9989F6F5C88}"/>
              </a:ext>
            </a:extLst>
          </p:cNvPr>
          <p:cNvPicPr>
            <a:picLocks noChangeAspect="1"/>
          </p:cNvPicPr>
          <p:nvPr/>
        </p:nvPicPr>
        <p:blipFill>
          <a:blip r:embed="rId2">
            <a:alphaModFix amt="20000"/>
            <a:extLst>
              <a:ext uri="{28A0092B-C50C-407E-A947-70E740481C1C}">
                <a14:useLocalDpi xmlns:a14="http://schemas.microsoft.com/office/drawing/2010/main" val="0"/>
              </a:ext>
            </a:extLst>
          </a:blip>
          <a:srcRect/>
          <a:stretch>
            <a:fillRect/>
          </a:stretch>
        </p:blipFill>
        <p:spPr bwMode="auto">
          <a:xfrm>
            <a:off x="2745631" y="78631"/>
            <a:ext cx="6700737" cy="6700737"/>
          </a:xfrm>
          <a:prstGeom prst="rect">
            <a:avLst/>
          </a:prstGeom>
        </p:spPr>
      </p:pic>
      <p:sp>
        <p:nvSpPr>
          <p:cNvPr id="2" name="Title 1">
            <a:extLst>
              <a:ext uri="{FF2B5EF4-FFF2-40B4-BE49-F238E27FC236}">
                <a16:creationId xmlns:a16="http://schemas.microsoft.com/office/drawing/2014/main" id="{7F8A2860-C656-EF15-03FC-05AAA578765E}"/>
              </a:ext>
            </a:extLst>
          </p:cNvPr>
          <p:cNvSpPr>
            <a:spLocks noGrp="1"/>
          </p:cNvSpPr>
          <p:nvPr>
            <p:ph type="ctrTitle"/>
          </p:nvPr>
        </p:nvSpPr>
        <p:spPr>
          <a:xfrm>
            <a:off x="1524000" y="1466177"/>
            <a:ext cx="9144000" cy="2387600"/>
          </a:xfrm>
        </p:spPr>
        <p:txBody>
          <a:bodyPr/>
          <a:lstStyle/>
          <a:p>
            <a:r>
              <a:rPr lang="en-US" b="1" dirty="0"/>
              <a:t>Week 1</a:t>
            </a:r>
          </a:p>
        </p:txBody>
      </p:sp>
      <p:sp>
        <p:nvSpPr>
          <p:cNvPr id="4" name="Subtitle 2">
            <a:extLst>
              <a:ext uri="{FF2B5EF4-FFF2-40B4-BE49-F238E27FC236}">
                <a16:creationId xmlns:a16="http://schemas.microsoft.com/office/drawing/2014/main" id="{EA401AF4-D062-45FD-DC4D-F88899A02D20}"/>
              </a:ext>
            </a:extLst>
          </p:cNvPr>
          <p:cNvSpPr txBox="1">
            <a:spLocks/>
          </p:cNvSpPr>
          <p:nvPr/>
        </p:nvSpPr>
        <p:spPr>
          <a:xfrm>
            <a:off x="9272603" y="6566175"/>
            <a:ext cx="3749505" cy="425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Project folder on </a:t>
            </a:r>
            <a:r>
              <a:rPr lang="en-US" sz="1600" dirty="0">
                <a:hlinkClick r:id="rId3"/>
              </a:rPr>
              <a:t>Github</a:t>
            </a:r>
            <a:r>
              <a:rPr lang="en-US" sz="1600" dirty="0"/>
              <a:t>  </a:t>
            </a:r>
          </a:p>
        </p:txBody>
      </p:sp>
      <p:sp>
        <p:nvSpPr>
          <p:cNvPr id="8" name="Subtitle 2">
            <a:extLst>
              <a:ext uri="{FF2B5EF4-FFF2-40B4-BE49-F238E27FC236}">
                <a16:creationId xmlns:a16="http://schemas.microsoft.com/office/drawing/2014/main" id="{43028C9A-DFAA-52CE-75A1-3D24D7FE0DC5}"/>
              </a:ext>
            </a:extLst>
          </p:cNvPr>
          <p:cNvSpPr>
            <a:spLocks noGrp="1"/>
          </p:cNvSpPr>
          <p:nvPr>
            <p:ph type="subTitle" idx="1"/>
          </p:nvPr>
        </p:nvSpPr>
        <p:spPr>
          <a:xfrm>
            <a:off x="1524000" y="3853777"/>
            <a:ext cx="9144000" cy="1655762"/>
          </a:xfrm>
        </p:spPr>
        <p:txBody>
          <a:bodyPr/>
          <a:lstStyle/>
          <a:p>
            <a:r>
              <a:rPr lang="en-US" b="1" dirty="0"/>
              <a:t>DOF Analysis and Literature review on Spiral Mechanism</a:t>
            </a:r>
            <a:br>
              <a:rPr lang="en-US" b="1" dirty="0"/>
            </a:br>
            <a:endParaRPr lang="en-US" b="1" dirty="0"/>
          </a:p>
        </p:txBody>
      </p:sp>
    </p:spTree>
    <p:extLst>
      <p:ext uri="{BB962C8B-B14F-4D97-AF65-F5344CB8AC3E}">
        <p14:creationId xmlns:p14="http://schemas.microsoft.com/office/powerpoint/2010/main" val="1326743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D418C-7CC7-C75F-72B9-4CABFC535DFC}"/>
            </a:ext>
          </a:extLst>
        </p:cNvPr>
        <p:cNvGrpSpPr/>
        <p:nvPr/>
      </p:nvGrpSpPr>
      <p:grpSpPr>
        <a:xfrm>
          <a:off x="0" y="0"/>
          <a:ext cx="0" cy="0"/>
          <a:chOff x="0" y="0"/>
          <a:chExt cx="0" cy="0"/>
        </a:xfrm>
      </p:grpSpPr>
      <p:pic>
        <p:nvPicPr>
          <p:cNvPr id="1026" name="Picture 2" descr="3-Node Triangle without Rotational DOF">
            <a:extLst>
              <a:ext uri="{FF2B5EF4-FFF2-40B4-BE49-F238E27FC236}">
                <a16:creationId xmlns:a16="http://schemas.microsoft.com/office/drawing/2014/main" id="{97477E71-3A24-27D0-FCF9-85D25A973E71}"/>
              </a:ext>
            </a:extLst>
          </p:cNvPr>
          <p:cNvPicPr>
            <a:picLocks noGrp="1" noChangeAspect="1" noChangeArrowheads="1"/>
          </p:cNvPicPr>
          <p:nvPr>
            <p:ph type="pic" idx="1"/>
          </p:nvPr>
        </p:nvPicPr>
        <p:blipFill rotWithShape="1">
          <a:blip r:embed="rId2">
            <a:extLst>
              <a:ext uri="{28A0092B-C50C-407E-A947-70E740481C1C}">
                <a14:useLocalDpi xmlns:a14="http://schemas.microsoft.com/office/drawing/2010/main" val="0"/>
              </a:ext>
            </a:extLst>
          </a:blip>
          <a:srcRect l="830" t="2782" r="-830" b="50598"/>
          <a:stretch>
            <a:fillRect/>
          </a:stretch>
        </p:blipFill>
        <p:spPr bwMode="auto">
          <a:xfrm rot="20273619">
            <a:off x="6637814" y="2434228"/>
            <a:ext cx="5256212" cy="22825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ADC83BF-6989-2B76-2163-2D20B02C2E60}"/>
              </a:ext>
            </a:extLst>
          </p:cNvPr>
          <p:cNvSpPr>
            <a:spLocks noGrp="1"/>
          </p:cNvSpPr>
          <p:nvPr>
            <p:ph type="title"/>
          </p:nvPr>
        </p:nvSpPr>
        <p:spPr>
          <a:xfrm>
            <a:off x="839787" y="457200"/>
            <a:ext cx="7462965" cy="1298448"/>
          </a:xfrm>
        </p:spPr>
        <p:txBody>
          <a:bodyPr>
            <a:normAutofit/>
          </a:bodyPr>
          <a:lstStyle/>
          <a:p>
            <a:r>
              <a:rPr lang="en-US" sz="2800" dirty="0"/>
              <a:t> Geometric Definition &amp; Parametric Requirements</a:t>
            </a:r>
          </a:p>
        </p:txBody>
      </p:sp>
      <p:sp>
        <p:nvSpPr>
          <p:cNvPr id="4" name="Text Placeholder 3">
            <a:extLst>
              <a:ext uri="{FF2B5EF4-FFF2-40B4-BE49-F238E27FC236}">
                <a16:creationId xmlns:a16="http://schemas.microsoft.com/office/drawing/2014/main" id="{A81478AB-D899-7ABD-6E4C-BC21FD7D1B1F}"/>
              </a:ext>
            </a:extLst>
          </p:cNvPr>
          <p:cNvSpPr>
            <a:spLocks noGrp="1"/>
          </p:cNvSpPr>
          <p:nvPr>
            <p:ph type="body" sz="half" idx="2"/>
          </p:nvPr>
        </p:nvSpPr>
        <p:spPr>
          <a:xfrm>
            <a:off x="839788" y="2057400"/>
            <a:ext cx="5085524" cy="3811588"/>
          </a:xfrm>
        </p:spPr>
        <p:txBody>
          <a:bodyPr>
            <a:normAutofit/>
          </a:bodyPr>
          <a:lstStyle/>
          <a:p>
            <a:pPr algn="just"/>
            <a:r>
              <a:rPr lang="en-US" sz="2000" dirty="0"/>
              <a:t>Calculated 5 DOF by subtracting translational and rotational constraints from the total coordinate set (8 - 3 = 5).</a:t>
            </a:r>
          </a:p>
          <a:p>
            <a:pPr algn="just"/>
            <a:r>
              <a:rPr lang="en-US" sz="2000" dirty="0"/>
              <a:t>Triangulation Method: Verified the result by decomposing the geometry into two adjacent triangles (3 + 2 parameters).</a:t>
            </a:r>
          </a:p>
          <a:p>
            <a:pPr algn="just"/>
            <a:r>
              <a:rPr lang="en-US" sz="2000" dirty="0"/>
              <a:t>The shape is fully defined by specific combinations of the 5 DOF, such as:</a:t>
            </a:r>
          </a:p>
          <a:p>
            <a:pPr marL="342900" indent="-342900" algn="just">
              <a:buFont typeface="Arial" panose="020B0604020202020204" pitchFamily="34" charset="0"/>
              <a:buChar char="•"/>
            </a:pPr>
            <a:r>
              <a:rPr lang="en-US" sz="1800" dirty="0"/>
              <a:t>4 Sides and 1 Angle</a:t>
            </a:r>
          </a:p>
          <a:p>
            <a:pPr marL="342900" indent="-342900" algn="just">
              <a:buFont typeface="Arial" panose="020B0604020202020204" pitchFamily="34" charset="0"/>
              <a:buChar char="•"/>
            </a:pPr>
            <a:r>
              <a:rPr lang="en-US" sz="1800" dirty="0"/>
              <a:t>3 Sides and 2 Angles</a:t>
            </a:r>
          </a:p>
          <a:p>
            <a:pPr marL="342900" indent="-342900" algn="just">
              <a:buFont typeface="Arial" panose="020B0604020202020204" pitchFamily="34" charset="0"/>
              <a:buChar char="•"/>
            </a:pPr>
            <a:r>
              <a:rPr lang="en-US" sz="1800" dirty="0"/>
              <a:t>2 Adjacent Sides and 3 Angles</a:t>
            </a:r>
          </a:p>
        </p:txBody>
      </p:sp>
    </p:spTree>
    <p:extLst>
      <p:ext uri="{BB962C8B-B14F-4D97-AF65-F5344CB8AC3E}">
        <p14:creationId xmlns:p14="http://schemas.microsoft.com/office/powerpoint/2010/main" val="2268055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49833-268B-1C8C-3A10-9E6E9962C868}"/>
              </a:ext>
            </a:extLst>
          </p:cNvPr>
          <p:cNvSpPr>
            <a:spLocks noGrp="1"/>
          </p:cNvSpPr>
          <p:nvPr>
            <p:ph type="title"/>
          </p:nvPr>
        </p:nvSpPr>
        <p:spPr>
          <a:xfrm>
            <a:off x="839788" y="457200"/>
            <a:ext cx="5256212" cy="1298448"/>
          </a:xfrm>
        </p:spPr>
        <p:txBody>
          <a:bodyPr>
            <a:normAutofit/>
          </a:bodyPr>
          <a:lstStyle/>
          <a:p>
            <a:r>
              <a:rPr lang="en-US" sz="2800" dirty="0"/>
              <a:t>Design Logic (Focus on parameters)</a:t>
            </a:r>
          </a:p>
        </p:txBody>
      </p:sp>
      <p:sp>
        <p:nvSpPr>
          <p:cNvPr id="4" name="Text Placeholder 3">
            <a:extLst>
              <a:ext uri="{FF2B5EF4-FFF2-40B4-BE49-F238E27FC236}">
                <a16:creationId xmlns:a16="http://schemas.microsoft.com/office/drawing/2014/main" id="{74C2FB3B-C385-8159-14A2-EC74C9A77C73}"/>
              </a:ext>
            </a:extLst>
          </p:cNvPr>
          <p:cNvSpPr>
            <a:spLocks noGrp="1"/>
          </p:cNvSpPr>
          <p:nvPr>
            <p:ph type="body" sz="half" idx="2"/>
          </p:nvPr>
        </p:nvSpPr>
        <p:spPr>
          <a:xfrm>
            <a:off x="839788" y="2057400"/>
            <a:ext cx="5085524" cy="3811588"/>
          </a:xfrm>
        </p:spPr>
        <p:txBody>
          <a:bodyPr>
            <a:normAutofit/>
          </a:bodyPr>
          <a:lstStyle/>
          <a:p>
            <a:pPr algn="just"/>
            <a:r>
              <a:rPr lang="en-US" sz="2000" b="1" dirty="0"/>
              <a:t>DOF Reduction: </a:t>
            </a:r>
            <a:r>
              <a:rPr lang="en-US" sz="2000" dirty="0"/>
              <a:t>Simplified the available 5 degrees of freedom by fixing internal angles and applying a strict geometric reduction ratio.</a:t>
            </a:r>
          </a:p>
          <a:p>
            <a:pPr algn="just"/>
            <a:endParaRPr lang="en-US" sz="2000" b="1" dirty="0"/>
          </a:p>
          <a:p>
            <a:pPr algn="just"/>
            <a:r>
              <a:rPr lang="en-US" sz="2000" b="1" dirty="0"/>
              <a:t>Geometric Consistency: </a:t>
            </a:r>
            <a:r>
              <a:rPr lang="en-US" sz="2000" dirty="0"/>
              <a:t>Achieved a self-similar logarithmic spiral by maintaining constant internal angles (alpha, beta = 80.41deg) while scaling dimensions from 50mm down to 11.88mm.</a:t>
            </a:r>
          </a:p>
        </p:txBody>
      </p:sp>
      <p:graphicFrame>
        <p:nvGraphicFramePr>
          <p:cNvPr id="8" name="Picture Placeholder 7">
            <a:extLst>
              <a:ext uri="{FF2B5EF4-FFF2-40B4-BE49-F238E27FC236}">
                <a16:creationId xmlns:a16="http://schemas.microsoft.com/office/drawing/2014/main" id="{B456D4C3-6B79-085F-EB42-DDA3B09AD1D8}"/>
              </a:ext>
            </a:extLst>
          </p:cNvPr>
          <p:cNvGraphicFramePr>
            <a:graphicFrameLocks noGrp="1" noChangeAspect="1"/>
          </p:cNvGraphicFramePr>
          <p:nvPr>
            <p:ph type="pic" idx="1"/>
            <p:extLst>
              <p:ext uri="{D42A27DB-BD31-4B8C-83A1-F6EECF244321}">
                <p14:modId xmlns:p14="http://schemas.microsoft.com/office/powerpoint/2010/main" val="1852864165"/>
              </p:ext>
            </p:extLst>
          </p:nvPr>
        </p:nvGraphicFramePr>
        <p:xfrm>
          <a:off x="6150878" y="85166"/>
          <a:ext cx="4725846" cy="6687668"/>
        </p:xfrm>
        <a:graphic>
          <a:graphicData uri="http://schemas.openxmlformats.org/presentationml/2006/ole">
            <mc:AlternateContent xmlns:mc="http://schemas.openxmlformats.org/markup-compatibility/2006">
              <mc:Choice xmlns:v="urn:schemas-microsoft-com:vml" Requires="v">
                <p:oleObj name="Acrobat Document" r:id="rId2" imgW="3777810" imgH="5346612" progId="Acrobat.Document.DC">
                  <p:embed/>
                </p:oleObj>
              </mc:Choice>
              <mc:Fallback>
                <p:oleObj name="Acrobat Document" r:id="rId2" imgW="3777810" imgH="5346612" progId="Acrobat.Document.DC">
                  <p:embed/>
                  <p:pic>
                    <p:nvPicPr>
                      <p:cNvPr id="7" name="Object 6">
                        <a:extLst>
                          <a:ext uri="{FF2B5EF4-FFF2-40B4-BE49-F238E27FC236}">
                            <a16:creationId xmlns:a16="http://schemas.microsoft.com/office/drawing/2014/main" id="{B456D4C3-6B79-085F-EB42-DDA3B09AD1D8}"/>
                          </a:ext>
                        </a:extLst>
                      </p:cNvPr>
                      <p:cNvPicPr/>
                      <p:nvPr/>
                    </p:nvPicPr>
                    <p:blipFill>
                      <a:blip r:embed="rId3"/>
                      <a:stretch>
                        <a:fillRect/>
                      </a:stretch>
                    </p:blipFill>
                    <p:spPr>
                      <a:xfrm>
                        <a:off x="6150878" y="85166"/>
                        <a:ext cx="4725846" cy="6687668"/>
                      </a:xfrm>
                      <a:prstGeom prst="rect">
                        <a:avLst/>
                      </a:prstGeom>
                    </p:spPr>
                  </p:pic>
                </p:oleObj>
              </mc:Fallback>
            </mc:AlternateContent>
          </a:graphicData>
        </a:graphic>
      </p:graphicFrame>
    </p:spTree>
    <p:extLst>
      <p:ext uri="{BB962C8B-B14F-4D97-AF65-F5344CB8AC3E}">
        <p14:creationId xmlns:p14="http://schemas.microsoft.com/office/powerpoint/2010/main" val="3693449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US" sz="2800" dirty="0"/>
              <a:t>Design assembly</a:t>
            </a:r>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39788" y="2057400"/>
            <a:ext cx="5085524" cy="3517900"/>
          </a:xfrm>
        </p:spPr>
        <p:txBody>
          <a:bodyPr>
            <a:normAutofit/>
          </a:bodyPr>
          <a:lstStyle/>
          <a:p>
            <a:pPr algn="just"/>
            <a:r>
              <a:rPr lang="en-US" sz="2000" b="1" dirty="0"/>
              <a:t>CAD Implementation: </a:t>
            </a:r>
            <a:r>
              <a:rPr lang="en-US" sz="2000" dirty="0"/>
              <a:t>Modeled the calculated geometry in SolidWorks, extruding each quadrilateral segment to a uniform thickness of 2mm.</a:t>
            </a:r>
          </a:p>
          <a:p>
            <a:pPr algn="just"/>
            <a:r>
              <a:rPr lang="en-US" sz="2000" dirty="0"/>
              <a:t>Constructed the primary chain by joining six quadrilaterals at their common edges to establish the base structure.</a:t>
            </a:r>
          </a:p>
          <a:p>
            <a:pPr algn="just"/>
            <a:r>
              <a:rPr lang="en-US" sz="2000" b="1" dirty="0"/>
              <a:t>Symmetric Integration: </a:t>
            </a:r>
            <a:r>
              <a:rPr lang="en-US" sz="2000" dirty="0"/>
              <a:t>Completed the profile by assembling a mirrored copy, replicating the motion dynamics of the </a:t>
            </a:r>
            <a:r>
              <a:rPr lang="en-US" sz="2000" i="1" dirty="0"/>
              <a:t>John Edmark Curling Spiral (Outer Spine)</a:t>
            </a:r>
            <a:r>
              <a:rPr lang="en-US" sz="2000" dirty="0"/>
              <a:t> framework.</a:t>
            </a:r>
          </a:p>
        </p:txBody>
      </p:sp>
      <p:sp>
        <p:nvSpPr>
          <p:cNvPr id="5" name="Picture Placeholder 4">
            <a:extLst>
              <a:ext uri="{FF2B5EF4-FFF2-40B4-BE49-F238E27FC236}">
                <a16:creationId xmlns:a16="http://schemas.microsoft.com/office/drawing/2014/main" id="{01009504-4F97-5BB2-2942-A576758C35B3}"/>
              </a:ext>
            </a:extLst>
          </p:cNvPr>
          <p:cNvSpPr>
            <a:spLocks noGrp="1"/>
          </p:cNvSpPr>
          <p:nvPr>
            <p:ph type="pic" idx="1"/>
          </p:nvPr>
        </p:nvSpPr>
        <p:spPr/>
      </p:sp>
    </p:spTree>
    <p:extLst>
      <p:ext uri="{BB962C8B-B14F-4D97-AF65-F5344CB8AC3E}">
        <p14:creationId xmlns:p14="http://schemas.microsoft.com/office/powerpoint/2010/main" val="1349975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5FCFB-3F1E-3EF8-03DA-0A8BFE87ED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08432-0CB1-0C9C-6C6E-00F721F10AE2}"/>
              </a:ext>
            </a:extLst>
          </p:cNvPr>
          <p:cNvSpPr>
            <a:spLocks noGrp="1"/>
          </p:cNvSpPr>
          <p:nvPr>
            <p:ph type="title"/>
          </p:nvPr>
        </p:nvSpPr>
        <p:spPr>
          <a:xfrm>
            <a:off x="839788" y="457200"/>
            <a:ext cx="5392762" cy="1298448"/>
          </a:xfrm>
        </p:spPr>
        <p:txBody>
          <a:bodyPr>
            <a:normAutofit/>
          </a:bodyPr>
          <a:lstStyle/>
          <a:p>
            <a:pPr algn="ctr"/>
            <a:r>
              <a:rPr lang="en-US" dirty="0" err="1"/>
              <a:t>SpiRobs</a:t>
            </a:r>
            <a:r>
              <a:rPr lang="en-US" dirty="0"/>
              <a:t>: Logarithmic spiral-shaped robots</a:t>
            </a:r>
            <a:endParaRPr lang="en-US" sz="2800" dirty="0"/>
          </a:p>
        </p:txBody>
      </p:sp>
      <p:sp>
        <p:nvSpPr>
          <p:cNvPr id="5" name="Rectangle 2">
            <a:extLst>
              <a:ext uri="{FF2B5EF4-FFF2-40B4-BE49-F238E27FC236}">
                <a16:creationId xmlns:a16="http://schemas.microsoft.com/office/drawing/2014/main" id="{E2242DFE-47C8-D31C-CE53-6563D53329BC}"/>
              </a:ext>
            </a:extLst>
          </p:cNvPr>
          <p:cNvSpPr>
            <a:spLocks noGrp="1" noChangeArrowheads="1"/>
          </p:cNvSpPr>
          <p:nvPr>
            <p:ph type="body" sz="half" idx="2"/>
          </p:nvPr>
        </p:nvSpPr>
        <p:spPr bwMode="auto">
          <a:xfrm>
            <a:off x="839789" y="2445345"/>
            <a:ext cx="5256212" cy="30357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rPr>
              <a:t>The mechanism’s profile follows the polar equation</a:t>
            </a:r>
          </a:p>
          <a:p>
            <a:pPr algn="ctr"/>
            <a:r>
              <a:rPr kumimoji="0" lang="en-US" altLang="en-US" sz="1800" b="0" i="0" u="none" strike="noStrike" cap="none" normalizeH="0" baseline="0" dirty="0">
                <a:ln>
                  <a:noFill/>
                </a:ln>
                <a:solidFill>
                  <a:schemeClr val="tx1"/>
                </a:solidFill>
                <a:effectLst/>
              </a:rPr>
              <a:t> </a:t>
            </a:r>
            <a:r>
              <a:rPr lang="en-US" b="1" dirty="0"/>
              <a:t>r </a:t>
            </a:r>
            <a:r>
              <a:rPr lang="en-US" dirty="0"/>
              <a:t>= </a:t>
            </a:r>
            <a:r>
              <a:rPr lang="en-US" dirty="0" err="1"/>
              <a:t>a.e</a:t>
            </a:r>
            <a:r>
              <a:rPr lang="en-US" b="1" baseline="30000" dirty="0"/>
              <a:t>(</a:t>
            </a:r>
            <a:r>
              <a:rPr lang="en-US" b="1" baseline="30000" dirty="0" err="1"/>
              <a:t>b.θ</a:t>
            </a:r>
            <a:r>
              <a:rPr lang="en-US" b="1" baseline="30000" dirty="0"/>
              <a:t>)</a:t>
            </a:r>
          </a:p>
          <a:p>
            <a:pPr algn="ctr"/>
            <a:endParaRPr lang="en-US" dirty="0"/>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800" dirty="0"/>
              <a:t>Scale Factor (a): Defines the initial geometric size, correlating directly to the first quadrilateral dimension (50mm).</a:t>
            </a:r>
          </a:p>
          <a:p>
            <a:pPr lvl="0" algn="just" eaLnBrk="0" fontAlgn="base" hangingPunct="0">
              <a:lnSpc>
                <a:spcPct val="100000"/>
              </a:lnSpc>
              <a:spcBef>
                <a:spcPct val="0"/>
              </a:spcBef>
              <a:spcAft>
                <a:spcPct val="0"/>
              </a:spcAft>
            </a:pPr>
            <a:r>
              <a:rPr lang="en-US" sz="1800" dirty="0"/>
              <a:t>Expansion </a:t>
            </a:r>
            <a:r>
              <a:rPr lang="en-US" altLang="en-US" sz="1800" dirty="0"/>
              <a:t>(b): A constant parameter that dictates the rate of expansion and the "tightness" of the spiral wrap.</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1" name="Picture Placeholder 10">
            <a:extLst>
              <a:ext uri="{FF2B5EF4-FFF2-40B4-BE49-F238E27FC236}">
                <a16:creationId xmlns:a16="http://schemas.microsoft.com/office/drawing/2014/main" id="{2CA7A262-0ED8-37F7-BFBB-BB0984E0C8C2}"/>
              </a:ext>
            </a:extLst>
          </p:cNvPr>
          <p:cNvPicPr>
            <a:picLocks noGrp="1" noChangeAspect="1"/>
          </p:cNvPicPr>
          <p:nvPr>
            <p:ph type="pic" idx="1"/>
          </p:nvPr>
        </p:nvPicPr>
        <p:blipFill>
          <a:blip r:embed="rId2"/>
          <a:srcRect l="4370" t="435" r="4488" b="2300"/>
          <a:stretch>
            <a:fillRect/>
          </a:stretch>
        </p:blipFill>
        <p:spPr>
          <a:xfrm>
            <a:off x="6465177" y="1118521"/>
            <a:ext cx="4669536" cy="4620958"/>
          </a:xfrm>
        </p:spPr>
      </p:pic>
    </p:spTree>
    <p:extLst>
      <p:ext uri="{BB962C8B-B14F-4D97-AF65-F5344CB8AC3E}">
        <p14:creationId xmlns:p14="http://schemas.microsoft.com/office/powerpoint/2010/main" val="38318509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US" sz="2800" dirty="0"/>
              <a:t>Skill Acquisition</a:t>
            </a:r>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39788" y="2057400"/>
            <a:ext cx="5054518" cy="3517900"/>
          </a:xfrm>
        </p:spPr>
        <p:txBody>
          <a:bodyPr>
            <a:normAutofit/>
          </a:bodyPr>
          <a:lstStyle/>
          <a:p>
            <a:pPr algn="just"/>
            <a:r>
              <a:rPr lang="en-US" sz="2000" dirty="0"/>
              <a:t>3D structural FEA in Abaqus CAE to capture the continuous behavior of the spiral assembly. </a:t>
            </a:r>
          </a:p>
          <a:p>
            <a:pPr algn="just"/>
            <a:r>
              <a:rPr lang="en-US" sz="2000" dirty="0"/>
              <a:t>Learned datum planes and cell partitioning to define </a:t>
            </a:r>
            <a:r>
              <a:rPr lang="en-US" sz="2000" dirty="0" err="1"/>
              <a:t>seperate</a:t>
            </a:r>
            <a:r>
              <a:rPr lang="en-US" sz="2000" dirty="0"/>
              <a:t> geometries.</a:t>
            </a:r>
          </a:p>
          <a:p>
            <a:pPr algn="just"/>
            <a:r>
              <a:rPr lang="en-US" sz="2000" dirty="0"/>
              <a:t>Workflow and techniques adapted from </a:t>
            </a:r>
            <a:r>
              <a:rPr lang="en-US" sz="2000" b="1" dirty="0"/>
              <a:t>A-Star Education </a:t>
            </a:r>
            <a:r>
              <a:rPr lang="en-US" sz="2000" dirty="0"/>
              <a:t>and</a:t>
            </a:r>
            <a:r>
              <a:rPr lang="en-US" sz="2000" b="1" dirty="0"/>
              <a:t> Ahmed Elkady </a:t>
            </a:r>
            <a:r>
              <a:rPr lang="en-US" sz="2000" dirty="0"/>
              <a:t>tutorials.</a:t>
            </a:r>
          </a:p>
          <a:p>
            <a:pPr algn="just"/>
            <a:endParaRPr lang="en-US" sz="2000" dirty="0"/>
          </a:p>
        </p:txBody>
      </p:sp>
      <p:pic>
        <p:nvPicPr>
          <p:cNvPr id="11" name="Picture Placeholder 10">
            <a:extLst>
              <a:ext uri="{FF2B5EF4-FFF2-40B4-BE49-F238E27FC236}">
                <a16:creationId xmlns:a16="http://schemas.microsoft.com/office/drawing/2014/main" id="{ECB0C238-5C3B-474C-8D4B-3A664626E1F4}"/>
              </a:ext>
            </a:extLst>
          </p:cNvPr>
          <p:cNvPicPr>
            <a:picLocks noGrp="1" noChangeAspect="1"/>
          </p:cNvPicPr>
          <p:nvPr>
            <p:ph type="pic" idx="1"/>
          </p:nvPr>
        </p:nvPicPr>
        <p:blipFill rotWithShape="1">
          <a:blip r:embed="rId2"/>
          <a:srcRect l="707" t="-98" r="3573" b="98"/>
          <a:stretch/>
        </p:blipFill>
        <p:spPr>
          <a:xfrm>
            <a:off x="6339116" y="1106424"/>
            <a:ext cx="5256212" cy="2267358"/>
          </a:xfrm>
          <a:prstGeom prst="rect">
            <a:avLst/>
          </a:prstGeom>
        </p:spPr>
      </p:pic>
      <p:pic>
        <p:nvPicPr>
          <p:cNvPr id="12" name="Picture 11">
            <a:extLst>
              <a:ext uri="{FF2B5EF4-FFF2-40B4-BE49-F238E27FC236}">
                <a16:creationId xmlns:a16="http://schemas.microsoft.com/office/drawing/2014/main" id="{90A4044D-F546-4426-B919-2C0EF8B8EEB0}"/>
              </a:ext>
            </a:extLst>
          </p:cNvPr>
          <p:cNvPicPr>
            <a:picLocks noChangeAspect="1"/>
          </p:cNvPicPr>
          <p:nvPr/>
        </p:nvPicPr>
        <p:blipFill>
          <a:blip r:embed="rId3"/>
          <a:stretch>
            <a:fillRect/>
          </a:stretch>
        </p:blipFill>
        <p:spPr>
          <a:xfrm>
            <a:off x="6297695" y="3845578"/>
            <a:ext cx="5315011" cy="1905998"/>
          </a:xfrm>
          <a:prstGeom prst="rect">
            <a:avLst/>
          </a:prstGeom>
        </p:spPr>
      </p:pic>
    </p:spTree>
    <p:extLst>
      <p:ext uri="{BB962C8B-B14F-4D97-AF65-F5344CB8AC3E}">
        <p14:creationId xmlns:p14="http://schemas.microsoft.com/office/powerpoint/2010/main" val="1564286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DD393-BFC3-9D38-A6D1-566254900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F669E-E51E-43AC-140A-271E3A1D4789}"/>
              </a:ext>
            </a:extLst>
          </p:cNvPr>
          <p:cNvSpPr>
            <a:spLocks noGrp="1"/>
          </p:cNvSpPr>
          <p:nvPr>
            <p:ph type="ctrTitle"/>
          </p:nvPr>
        </p:nvSpPr>
        <p:spPr>
          <a:xfrm>
            <a:off x="1524000" y="1466177"/>
            <a:ext cx="9144000" cy="2387600"/>
          </a:xfrm>
        </p:spPr>
        <p:txBody>
          <a:bodyPr/>
          <a:lstStyle/>
          <a:p>
            <a:r>
              <a:rPr lang="en-US" dirty="0"/>
              <a:t>Week 2</a:t>
            </a:r>
          </a:p>
        </p:txBody>
      </p:sp>
      <p:sp>
        <p:nvSpPr>
          <p:cNvPr id="4" name="Subtitle 2">
            <a:extLst>
              <a:ext uri="{FF2B5EF4-FFF2-40B4-BE49-F238E27FC236}">
                <a16:creationId xmlns:a16="http://schemas.microsoft.com/office/drawing/2014/main" id="{40FAD2A8-B681-34C1-91FF-798C861AA97F}"/>
              </a:ext>
            </a:extLst>
          </p:cNvPr>
          <p:cNvSpPr txBox="1">
            <a:spLocks/>
          </p:cNvSpPr>
          <p:nvPr/>
        </p:nvSpPr>
        <p:spPr>
          <a:xfrm>
            <a:off x="9272603" y="6566175"/>
            <a:ext cx="3749505" cy="425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Project folder on </a:t>
            </a:r>
            <a:r>
              <a:rPr lang="en-US" sz="1600" dirty="0">
                <a:hlinkClick r:id="rId2"/>
              </a:rPr>
              <a:t>Github</a:t>
            </a:r>
            <a:r>
              <a:rPr lang="en-US" sz="1600" dirty="0"/>
              <a:t>  </a:t>
            </a:r>
          </a:p>
        </p:txBody>
      </p:sp>
      <p:sp>
        <p:nvSpPr>
          <p:cNvPr id="3" name="Subtitle 2">
            <a:extLst>
              <a:ext uri="{FF2B5EF4-FFF2-40B4-BE49-F238E27FC236}">
                <a16:creationId xmlns:a16="http://schemas.microsoft.com/office/drawing/2014/main" id="{22AB6ABB-E211-E945-4EAB-16FBB28E7134}"/>
              </a:ext>
            </a:extLst>
          </p:cNvPr>
          <p:cNvSpPr>
            <a:spLocks noGrp="1"/>
          </p:cNvSpPr>
          <p:nvPr>
            <p:ph type="subTitle" idx="1"/>
          </p:nvPr>
        </p:nvSpPr>
        <p:spPr>
          <a:xfrm>
            <a:off x="1524000" y="3853777"/>
            <a:ext cx="9144000" cy="1655762"/>
          </a:xfrm>
        </p:spPr>
        <p:txBody>
          <a:bodyPr/>
          <a:lstStyle/>
          <a:p>
            <a:r>
              <a:rPr lang="en-US" dirty="0"/>
              <a:t>Simulation in Abaqus</a:t>
            </a:r>
            <a:br>
              <a:rPr lang="en-US" dirty="0"/>
            </a:br>
            <a:endParaRPr lang="en-US" dirty="0"/>
          </a:p>
        </p:txBody>
      </p:sp>
      <p:pic>
        <p:nvPicPr>
          <p:cNvPr id="7" name="Picture 6">
            <a:extLst>
              <a:ext uri="{FF2B5EF4-FFF2-40B4-BE49-F238E27FC236}">
                <a16:creationId xmlns:a16="http://schemas.microsoft.com/office/drawing/2014/main" id="{D852728F-0DBE-4F77-8538-B5126E26E014}"/>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a:stretch>
            <a:fillRect/>
          </a:stretch>
        </p:blipFill>
        <p:spPr bwMode="auto">
          <a:xfrm>
            <a:off x="2745631" y="78631"/>
            <a:ext cx="6700737" cy="6700737"/>
          </a:xfrm>
          <a:prstGeom prst="rect">
            <a:avLst/>
          </a:prstGeom>
        </p:spPr>
      </p:pic>
    </p:spTree>
    <p:extLst>
      <p:ext uri="{BB962C8B-B14F-4D97-AF65-F5344CB8AC3E}">
        <p14:creationId xmlns:p14="http://schemas.microsoft.com/office/powerpoint/2010/main" val="18317403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US" sz="2800" dirty="0"/>
              <a:t>Geometry &amp; Boundary condition</a:t>
            </a:r>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39788" y="2057400"/>
            <a:ext cx="5085524" cy="3517900"/>
          </a:xfrm>
        </p:spPr>
        <p:txBody>
          <a:bodyPr>
            <a:normAutofit/>
          </a:bodyPr>
          <a:lstStyle/>
          <a:p>
            <a:pPr algn="just"/>
            <a:r>
              <a:rPr lang="en-US" sz="2000" dirty="0"/>
              <a:t>Unified Body Approach: Modeled the assembly as a single continuum body rather than separate parts, eliminating complex contact interactions.</a:t>
            </a:r>
          </a:p>
          <a:p>
            <a:pPr algn="just"/>
            <a:r>
              <a:rPr lang="en-US" sz="2000" dirty="0"/>
              <a:t>Utilized cell partitioning and section assignments to distinctively define the plywood and tape regions within the spiral.</a:t>
            </a:r>
          </a:p>
          <a:p>
            <a:pPr algn="just"/>
            <a:r>
              <a:rPr lang="en-US" sz="2000" dirty="0"/>
              <a:t>Geometry and dimensions align with the previously developed SolidWorks model.</a:t>
            </a:r>
          </a:p>
        </p:txBody>
      </p:sp>
      <p:graphicFrame>
        <p:nvGraphicFramePr>
          <p:cNvPr id="3" name="Picture Placeholder 2">
            <a:extLst>
              <a:ext uri="{FF2B5EF4-FFF2-40B4-BE49-F238E27FC236}">
                <a16:creationId xmlns:a16="http://schemas.microsoft.com/office/drawing/2014/main" id="{9FE23FBB-FBA4-4FB0-5C9C-C4A66548C7F7}"/>
              </a:ext>
            </a:extLst>
          </p:cNvPr>
          <p:cNvGraphicFramePr>
            <a:graphicFrameLocks noGrp="1" noChangeAspect="1"/>
          </p:cNvGraphicFramePr>
          <p:nvPr>
            <p:ph type="pic" idx="1"/>
            <p:extLst>
              <p:ext uri="{D42A27DB-BD31-4B8C-83A1-F6EECF244321}">
                <p14:modId xmlns:p14="http://schemas.microsoft.com/office/powerpoint/2010/main" val="1882602869"/>
              </p:ext>
            </p:extLst>
          </p:nvPr>
        </p:nvGraphicFramePr>
        <p:xfrm>
          <a:off x="6635340" y="28248"/>
          <a:ext cx="4805362" cy="6801503"/>
        </p:xfrm>
        <a:graphic>
          <a:graphicData uri="http://schemas.openxmlformats.org/presentationml/2006/ole">
            <mc:AlternateContent xmlns:mc="http://schemas.openxmlformats.org/markup-compatibility/2006">
              <mc:Choice xmlns:v="urn:schemas-microsoft-com:vml" Requires="v">
                <p:oleObj name="Acrobat Document" r:id="rId2" imgW="3777810" imgH="5346612" progId="Acrobat.Document.DC">
                  <p:embed/>
                </p:oleObj>
              </mc:Choice>
              <mc:Fallback>
                <p:oleObj name="Acrobat Document" r:id="rId2" imgW="3777810" imgH="5346612" progId="Acrobat.Document.DC">
                  <p:embed/>
                  <p:pic>
                    <p:nvPicPr>
                      <p:cNvPr id="0" name=""/>
                      <p:cNvPicPr/>
                      <p:nvPr/>
                    </p:nvPicPr>
                    <p:blipFill>
                      <a:blip r:embed="rId3"/>
                      <a:stretch>
                        <a:fillRect/>
                      </a:stretch>
                    </p:blipFill>
                    <p:spPr>
                      <a:xfrm>
                        <a:off x="6635340" y="28248"/>
                        <a:ext cx="4805362" cy="6801503"/>
                      </a:xfrm>
                      <a:prstGeom prst="rect">
                        <a:avLst/>
                      </a:prstGeom>
                    </p:spPr>
                  </p:pic>
                </p:oleObj>
              </mc:Fallback>
            </mc:AlternateContent>
          </a:graphicData>
        </a:graphic>
      </p:graphicFrame>
    </p:spTree>
    <p:extLst>
      <p:ext uri="{BB962C8B-B14F-4D97-AF65-F5344CB8AC3E}">
        <p14:creationId xmlns:p14="http://schemas.microsoft.com/office/powerpoint/2010/main" val="721507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US" sz="2800" dirty="0"/>
              <a:t>Geometry &amp; Boundary condition</a:t>
            </a:r>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39788" y="2057400"/>
            <a:ext cx="5085524" cy="3517900"/>
          </a:xfrm>
        </p:spPr>
        <p:txBody>
          <a:bodyPr>
            <a:normAutofit/>
          </a:bodyPr>
          <a:lstStyle/>
          <a:p>
            <a:pPr algn="just"/>
            <a:r>
              <a:rPr lang="en-US" sz="2000" dirty="0"/>
              <a:t>Fixed constraint to the left base quadrilateral, while subjecting the opposing side to varying loads (body force, traction, pressure) across different simulation trials.</a:t>
            </a:r>
          </a:p>
          <a:p>
            <a:pPr algn="just"/>
            <a:r>
              <a:rPr lang="en-US" sz="2000" dirty="0"/>
              <a:t>Adopted standard </a:t>
            </a:r>
            <a:r>
              <a:rPr lang="en-US" sz="2000" b="1" dirty="0"/>
              <a:t>SI units</a:t>
            </a:r>
            <a:r>
              <a:rPr lang="en-US" sz="2000" dirty="0"/>
              <a:t> to ensure consistency within the Abaqus environment.</a:t>
            </a:r>
          </a:p>
        </p:txBody>
      </p:sp>
      <p:pic>
        <p:nvPicPr>
          <p:cNvPr id="7" name="Picture Placeholder 6">
            <a:extLst>
              <a:ext uri="{FF2B5EF4-FFF2-40B4-BE49-F238E27FC236}">
                <a16:creationId xmlns:a16="http://schemas.microsoft.com/office/drawing/2014/main" id="{A9A3507A-B921-467B-8E31-6C0C17DC1C74}"/>
              </a:ext>
            </a:extLst>
          </p:cNvPr>
          <p:cNvPicPr>
            <a:picLocks noGrp="1"/>
          </p:cNvPicPr>
          <p:nvPr>
            <p:ph type="pic" idx="1"/>
          </p:nvPr>
        </p:nvPicPr>
        <p:blipFill rotWithShape="1">
          <a:blip r:embed="rId2"/>
          <a:srcRect l="35134" t="3583" r="36416" b="5863"/>
          <a:stretch/>
        </p:blipFill>
        <p:spPr>
          <a:xfrm>
            <a:off x="7168878" y="1581150"/>
            <a:ext cx="4183334" cy="4470399"/>
          </a:xfrm>
          <a:prstGeom prst="rect">
            <a:avLst/>
          </a:prstGeom>
        </p:spPr>
      </p:pic>
    </p:spTree>
    <p:extLst>
      <p:ext uri="{BB962C8B-B14F-4D97-AF65-F5344CB8AC3E}">
        <p14:creationId xmlns:p14="http://schemas.microsoft.com/office/powerpoint/2010/main" val="995510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US" sz="2800" dirty="0"/>
              <a:t>Material Properties</a:t>
            </a:r>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39788" y="2057400"/>
            <a:ext cx="5085524" cy="3517900"/>
          </a:xfrm>
        </p:spPr>
        <p:txBody>
          <a:bodyPr>
            <a:normAutofit/>
          </a:bodyPr>
          <a:lstStyle/>
          <a:p>
            <a:pPr algn="just"/>
            <a:r>
              <a:rPr lang="en-US" sz="2000" dirty="0"/>
              <a:t>Constitutive Behavior: Materials defined as Linear Elastic. Properties are derived from literature to serve as a representative baseline for static and dynamic analysis.</a:t>
            </a:r>
          </a:p>
          <a:p>
            <a:pPr algn="just"/>
            <a:r>
              <a:rPr lang="en-US" sz="2000" dirty="0"/>
              <a:t>Data Sources: Plywood data sourced from </a:t>
            </a:r>
            <a:r>
              <a:rPr lang="en-US" sz="2000" dirty="0" err="1"/>
              <a:t>Chudoba</a:t>
            </a:r>
            <a:r>
              <a:rPr lang="en-US" sz="2000" dirty="0"/>
              <a:t> et al. (2012); Tape data approximated from 3M Technical Data Sheets and Baum et al.</a:t>
            </a:r>
          </a:p>
          <a:p>
            <a:pPr algn="just"/>
            <a:r>
              <a:rPr lang="en-US" sz="2000" dirty="0"/>
              <a:t>Property Summary:</a:t>
            </a:r>
          </a:p>
        </p:txBody>
      </p:sp>
      <p:graphicFrame>
        <p:nvGraphicFramePr>
          <p:cNvPr id="10" name="Table 9">
            <a:extLst>
              <a:ext uri="{FF2B5EF4-FFF2-40B4-BE49-F238E27FC236}">
                <a16:creationId xmlns:a16="http://schemas.microsoft.com/office/drawing/2014/main" id="{CCA55BBB-31AD-494C-869B-6301507FF26D}"/>
              </a:ext>
            </a:extLst>
          </p:cNvPr>
          <p:cNvGraphicFramePr>
            <a:graphicFrameLocks noGrp="1"/>
          </p:cNvGraphicFramePr>
          <p:nvPr>
            <p:extLst>
              <p:ext uri="{D42A27DB-BD31-4B8C-83A1-F6EECF244321}">
                <p14:modId xmlns:p14="http://schemas.microsoft.com/office/powerpoint/2010/main" val="2257289341"/>
              </p:ext>
            </p:extLst>
          </p:nvPr>
        </p:nvGraphicFramePr>
        <p:xfrm>
          <a:off x="2597677" y="4931229"/>
          <a:ext cx="6996645" cy="1469571"/>
        </p:xfrm>
        <a:graphic>
          <a:graphicData uri="http://schemas.openxmlformats.org/drawingml/2006/table">
            <a:tbl>
              <a:tblPr/>
              <a:tblGrid>
                <a:gridCol w="2028490">
                  <a:extLst>
                    <a:ext uri="{9D8B030D-6E8A-4147-A177-3AD203B41FA5}">
                      <a16:colId xmlns:a16="http://schemas.microsoft.com/office/drawing/2014/main" val="1939735886"/>
                    </a:ext>
                  </a:extLst>
                </a:gridCol>
                <a:gridCol w="2061476">
                  <a:extLst>
                    <a:ext uri="{9D8B030D-6E8A-4147-A177-3AD203B41FA5}">
                      <a16:colId xmlns:a16="http://schemas.microsoft.com/office/drawing/2014/main" val="2289279786"/>
                    </a:ext>
                  </a:extLst>
                </a:gridCol>
                <a:gridCol w="1880066">
                  <a:extLst>
                    <a:ext uri="{9D8B030D-6E8A-4147-A177-3AD203B41FA5}">
                      <a16:colId xmlns:a16="http://schemas.microsoft.com/office/drawing/2014/main" val="820710277"/>
                    </a:ext>
                  </a:extLst>
                </a:gridCol>
                <a:gridCol w="1026613">
                  <a:extLst>
                    <a:ext uri="{9D8B030D-6E8A-4147-A177-3AD203B41FA5}">
                      <a16:colId xmlns:a16="http://schemas.microsoft.com/office/drawing/2014/main" val="116786979"/>
                    </a:ext>
                  </a:extLst>
                </a:gridCol>
              </a:tblGrid>
              <a:tr h="489857">
                <a:tc>
                  <a:txBody>
                    <a:bodyPr/>
                    <a:lstStyle/>
                    <a:p>
                      <a:pPr algn="l" rtl="0" fontAlgn="ctr"/>
                      <a:r>
                        <a:rPr lang="en-US" sz="1400" b="1" i="0" u="none" strike="noStrike" dirty="0">
                          <a:solidFill>
                            <a:srgbClr val="1F1F1F"/>
                          </a:solidFill>
                          <a:effectLst/>
                          <a:latin typeface="Arial" panose="020B0604020202020204" pitchFamily="34" charset="0"/>
                        </a:rPr>
                        <a:t>Material</a:t>
                      </a:r>
                    </a:p>
                  </a:txBody>
                  <a:tcPr marL="857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400" b="1" i="0" u="none" strike="noStrike">
                          <a:solidFill>
                            <a:srgbClr val="1F1F1F"/>
                          </a:solidFill>
                          <a:effectLst/>
                          <a:latin typeface="Arial" panose="020B0604020202020204" pitchFamily="34" charset="0"/>
                        </a:rPr>
                        <a:t>Young's Modulus (E)</a:t>
                      </a:r>
                    </a:p>
                  </a:txBody>
                  <a:tcPr marL="857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400" b="1" i="0" u="none" strike="noStrike">
                          <a:solidFill>
                            <a:srgbClr val="1F1F1F"/>
                          </a:solidFill>
                          <a:effectLst/>
                          <a:latin typeface="Arial" panose="020B0604020202020204" pitchFamily="34" charset="0"/>
                        </a:rPr>
                        <a:t>Poisson's Ratio (</a:t>
                      </a:r>
                      <a:r>
                        <a:rPr lang="el-GR" sz="1400" b="1" i="0" u="none" strike="noStrike">
                          <a:solidFill>
                            <a:srgbClr val="1F1F1F"/>
                          </a:solidFill>
                          <a:effectLst/>
                          <a:latin typeface="Arial" panose="020B0604020202020204" pitchFamily="34" charset="0"/>
                        </a:rPr>
                        <a:t>ν)</a:t>
                      </a:r>
                    </a:p>
                  </a:txBody>
                  <a:tcPr marL="857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rtl="0" fontAlgn="ctr"/>
                      <a:r>
                        <a:rPr lang="en-US" sz="1400" b="1" i="0" u="none" strike="noStrike">
                          <a:solidFill>
                            <a:srgbClr val="1F1F1F"/>
                          </a:solidFill>
                          <a:effectLst/>
                          <a:latin typeface="Arial" panose="020B0604020202020204" pitchFamily="34" charset="0"/>
                        </a:rPr>
                        <a:t>Density (</a:t>
                      </a:r>
                      <a:r>
                        <a:rPr lang="el-GR" sz="1400" b="1" i="0" u="none" strike="noStrike">
                          <a:solidFill>
                            <a:srgbClr val="1F1F1F"/>
                          </a:solidFill>
                          <a:effectLst/>
                          <a:latin typeface="Arial" panose="020B0604020202020204" pitchFamily="34" charset="0"/>
                        </a:rPr>
                        <a:t>ρ)</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7354672"/>
                  </a:ext>
                </a:extLst>
              </a:tr>
              <a:tr h="489857">
                <a:tc>
                  <a:txBody>
                    <a:bodyPr/>
                    <a:lstStyle/>
                    <a:p>
                      <a:pPr algn="l" rtl="0" fontAlgn="ctr"/>
                      <a:r>
                        <a:rPr lang="en-US" sz="1400" b="1" i="0" u="none" strike="noStrike">
                          <a:solidFill>
                            <a:srgbClr val="1F1F1F"/>
                          </a:solidFill>
                          <a:effectLst/>
                          <a:latin typeface="Arial" panose="020B0604020202020204" pitchFamily="34" charset="0"/>
                        </a:rPr>
                        <a:t>Baltic Birch Plywood</a:t>
                      </a:r>
                    </a:p>
                  </a:txBody>
                  <a:tcPr marL="857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l" rtl="0" fontAlgn="ctr"/>
                      <a:r>
                        <a:rPr lang="en-US" sz="1400" b="0" i="0" u="none" strike="noStrike" dirty="0">
                          <a:solidFill>
                            <a:srgbClr val="1F1F1F"/>
                          </a:solidFill>
                          <a:effectLst/>
                          <a:latin typeface="Arial" panose="020B0604020202020204" pitchFamily="34" charset="0"/>
                        </a:rPr>
                        <a:t>7 </a:t>
                      </a:r>
                      <a:r>
                        <a:rPr lang="en-US" sz="1400" b="0" i="0" u="none" strike="noStrike" dirty="0" err="1">
                          <a:solidFill>
                            <a:srgbClr val="1F1F1F"/>
                          </a:solidFill>
                          <a:effectLst/>
                          <a:latin typeface="Arial" panose="020B0604020202020204" pitchFamily="34" charset="0"/>
                        </a:rPr>
                        <a:t>GPa</a:t>
                      </a:r>
                      <a:endParaRPr lang="en-US" sz="1400" b="0" i="0" u="none" strike="noStrike" dirty="0">
                        <a:solidFill>
                          <a:srgbClr val="1F1F1F"/>
                        </a:solidFill>
                        <a:effectLst/>
                        <a:latin typeface="Arial" panose="020B0604020202020204" pitchFamily="34" charset="0"/>
                      </a:endParaRPr>
                    </a:p>
                  </a:txBody>
                  <a:tcPr marL="857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rtl="0" fontAlgn="ctr"/>
                      <a:r>
                        <a:rPr lang="en-DE" sz="1400" b="0" i="0" u="none" strike="noStrike" dirty="0">
                          <a:solidFill>
                            <a:srgbClr val="1F1F1F"/>
                          </a:solidFill>
                          <a:effectLst/>
                          <a:latin typeface="Arial" panose="020B0604020202020204" pitchFamily="34" charset="0"/>
                        </a:rPr>
                        <a:t>0.13</a:t>
                      </a:r>
                    </a:p>
                  </a:txBody>
                  <a:tcPr marL="85725" marR="9525" marT="9525"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l" rtl="0" fontAlgn="ctr"/>
                      <a:r>
                        <a:rPr lang="en-US" sz="1400" b="0" i="0" u="none" strike="noStrike" dirty="0">
                          <a:solidFill>
                            <a:srgbClr val="1F1F1F"/>
                          </a:solidFill>
                          <a:effectLst/>
                          <a:latin typeface="Arial" panose="020B0604020202020204" pitchFamily="34" charset="0"/>
                        </a:rPr>
                        <a:t>680 kg/m³</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90565443"/>
                  </a:ext>
                </a:extLst>
              </a:tr>
              <a:tr h="489857">
                <a:tc>
                  <a:txBody>
                    <a:bodyPr/>
                    <a:lstStyle/>
                    <a:p>
                      <a:pPr algn="l" rtl="0" fontAlgn="ctr"/>
                      <a:r>
                        <a:rPr lang="en-US" sz="1400" b="1" i="0" u="none" strike="noStrike">
                          <a:solidFill>
                            <a:srgbClr val="1F1F1F"/>
                          </a:solidFill>
                          <a:effectLst/>
                          <a:latin typeface="Arial" panose="020B0604020202020204" pitchFamily="34" charset="0"/>
                        </a:rPr>
                        <a:t>Masking Tape</a:t>
                      </a:r>
                    </a:p>
                  </a:txBody>
                  <a:tcPr marL="85725" marR="9525" marT="9525"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l" rtl="0" fontAlgn="ctr"/>
                      <a:r>
                        <a:rPr lang="en-US" sz="1400" b="0" i="0" u="none" strike="noStrike">
                          <a:solidFill>
                            <a:srgbClr val="1F1F1F"/>
                          </a:solidFill>
                          <a:effectLst/>
                          <a:latin typeface="Arial" panose="020B0604020202020204" pitchFamily="34" charset="0"/>
                        </a:rPr>
                        <a:t>0.5 GPa</a:t>
                      </a:r>
                    </a:p>
                  </a:txBody>
                  <a:tcPr marL="85725" marR="9525" marT="9525"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rtl="0" fontAlgn="ctr"/>
                      <a:r>
                        <a:rPr lang="en-DE" sz="1400" b="0" i="0" u="none" strike="noStrike" dirty="0">
                          <a:solidFill>
                            <a:srgbClr val="1F1F1F"/>
                          </a:solidFill>
                          <a:effectLst/>
                          <a:latin typeface="Arial" panose="020B0604020202020204" pitchFamily="34" charset="0"/>
                        </a:rPr>
                        <a:t>0.34</a:t>
                      </a:r>
                    </a:p>
                  </a:txBody>
                  <a:tcPr marL="85725" marR="9525" marT="9525"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rtl="0" fontAlgn="ctr"/>
                      <a:r>
                        <a:rPr lang="en-US" sz="1400" b="0" i="0" u="none" strike="noStrike" dirty="0">
                          <a:solidFill>
                            <a:srgbClr val="1F1F1F"/>
                          </a:solidFill>
                          <a:effectLst/>
                          <a:latin typeface="Arial" panose="020B0604020202020204" pitchFamily="34" charset="0"/>
                        </a:rPr>
                        <a:t>880 kg/m³</a:t>
                      </a:r>
                    </a:p>
                  </a:txBody>
                  <a:tcPr marL="9525" marR="9525" marT="9525"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91389257"/>
                  </a:ext>
                </a:extLst>
              </a:tr>
            </a:tbl>
          </a:graphicData>
        </a:graphic>
      </p:graphicFrame>
      <p:pic>
        <p:nvPicPr>
          <p:cNvPr id="11" name="Picture 10">
            <a:extLst>
              <a:ext uri="{FF2B5EF4-FFF2-40B4-BE49-F238E27FC236}">
                <a16:creationId xmlns:a16="http://schemas.microsoft.com/office/drawing/2014/main" id="{04A1B6DC-9DDD-463B-AFCD-CD9F94C49C5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09401" y="1236164"/>
            <a:ext cx="3059960" cy="3124686"/>
          </a:xfrm>
          <a:prstGeom prst="rect">
            <a:avLst/>
          </a:prstGeom>
          <a:noFill/>
        </p:spPr>
      </p:pic>
      <p:pic>
        <p:nvPicPr>
          <p:cNvPr id="12" name="Picture 11" descr="1104 100MM 3M, Masking Tape, Crepe Paper, 100 mm x 50 m | Farnell® Germany">
            <a:extLst>
              <a:ext uri="{FF2B5EF4-FFF2-40B4-BE49-F238E27FC236}">
                <a16:creationId xmlns:a16="http://schemas.microsoft.com/office/drawing/2014/main" id="{0ED9A3FD-C545-4DEF-87B8-356303F10A30}"/>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6641998" y="1473678"/>
            <a:ext cx="2245178" cy="2615730"/>
          </a:xfrm>
          <a:prstGeom prst="rect">
            <a:avLst/>
          </a:prstGeom>
          <a:noFill/>
          <a:ln>
            <a:noFill/>
          </a:ln>
        </p:spPr>
      </p:pic>
    </p:spTree>
    <p:extLst>
      <p:ext uri="{BB962C8B-B14F-4D97-AF65-F5344CB8AC3E}">
        <p14:creationId xmlns:p14="http://schemas.microsoft.com/office/powerpoint/2010/main" val="35011154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US" sz="2800" dirty="0"/>
              <a:t>Meshing</a:t>
            </a:r>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39788" y="2057400"/>
            <a:ext cx="5085524" cy="3517900"/>
          </a:xfrm>
        </p:spPr>
        <p:txBody>
          <a:bodyPr>
            <a:normAutofit/>
          </a:bodyPr>
          <a:lstStyle/>
          <a:p>
            <a:pPr algn="just"/>
            <a:r>
              <a:rPr lang="en-US" sz="2000" dirty="0"/>
              <a:t>Element Type: utilized C3D8R (8-node linear brick, reduced integration with hourglass control) to balance accuracy with computational cost.</a:t>
            </a:r>
          </a:p>
          <a:p>
            <a:pPr algn="just"/>
            <a:r>
              <a:rPr lang="en-US" sz="2000" dirty="0"/>
              <a:t>Discretization Strategy: Applied Hexahedral (Hex) meshing with a global seed size of 0.005, refined to 0.001 in critical regions.</a:t>
            </a:r>
          </a:p>
          <a:p>
            <a:pPr algn="just"/>
            <a:r>
              <a:rPr lang="en-US" sz="2000" dirty="0"/>
              <a:t>Model Density: Resulting mesh comprises approximately 20,000 elements for the complete assembly.</a:t>
            </a:r>
          </a:p>
        </p:txBody>
      </p:sp>
      <p:pic>
        <p:nvPicPr>
          <p:cNvPr id="7" name="Picture Placeholder 6">
            <a:extLst>
              <a:ext uri="{FF2B5EF4-FFF2-40B4-BE49-F238E27FC236}">
                <a16:creationId xmlns:a16="http://schemas.microsoft.com/office/drawing/2014/main" id="{1E3D4B32-ECB4-438E-B4D3-73221B9851E3}"/>
              </a:ext>
            </a:extLst>
          </p:cNvPr>
          <p:cNvPicPr>
            <a:picLocks noGrp="1"/>
          </p:cNvPicPr>
          <p:nvPr>
            <p:ph type="pic" idx="1"/>
          </p:nvPr>
        </p:nvPicPr>
        <p:blipFill rotWithShape="1">
          <a:blip r:embed="rId2"/>
          <a:srcRect l="23099" t="1869" r="30846" b="5863"/>
          <a:stretch/>
        </p:blipFill>
        <p:spPr>
          <a:xfrm>
            <a:off x="6473430" y="1180611"/>
            <a:ext cx="5085524" cy="4496777"/>
          </a:xfrm>
          <a:prstGeom prst="rect">
            <a:avLst/>
          </a:prstGeom>
        </p:spPr>
      </p:pic>
    </p:spTree>
    <p:extLst>
      <p:ext uri="{BB962C8B-B14F-4D97-AF65-F5344CB8AC3E}">
        <p14:creationId xmlns:p14="http://schemas.microsoft.com/office/powerpoint/2010/main" val="23214622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DE" dirty="0"/>
              <a:t>Result Visualization</a:t>
            </a:r>
            <a:endParaRPr lang="en-US" sz="2800" dirty="0"/>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77318" y="1962150"/>
            <a:ext cx="10598402" cy="3517900"/>
          </a:xfrm>
        </p:spPr>
        <p:txBody>
          <a:bodyPr>
            <a:normAutofit/>
          </a:bodyPr>
          <a:lstStyle/>
          <a:p>
            <a:pPr algn="just"/>
            <a:r>
              <a:rPr lang="en-US" sz="2000" dirty="0"/>
              <a:t>Undeformed:   					                   Deformed: </a:t>
            </a:r>
          </a:p>
        </p:txBody>
      </p:sp>
      <p:pic>
        <p:nvPicPr>
          <p:cNvPr id="4098" name="Picture 7">
            <a:extLst>
              <a:ext uri="{FF2B5EF4-FFF2-40B4-BE49-F238E27FC236}">
                <a16:creationId xmlns:a16="http://schemas.microsoft.com/office/drawing/2014/main" id="{E1A05B13-7CC6-4319-9A04-51152F9258D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349" t="8209" r="29918" b="7586"/>
          <a:stretch/>
        </p:blipFill>
        <p:spPr bwMode="auto">
          <a:xfrm>
            <a:off x="1361760" y="2491767"/>
            <a:ext cx="4212268" cy="3909033"/>
          </a:xfrm>
          <a:prstGeom prst="rect">
            <a:avLst/>
          </a:prstGeom>
          <a:noFill/>
          <a:extLst>
            <a:ext uri="{909E8E84-426E-40DD-AFC4-6F175D3DCCD1}">
              <a14:hiddenFill xmlns:a14="http://schemas.microsoft.com/office/drawing/2010/main">
                <a:solidFill>
                  <a:srgbClr val="FFFFFF"/>
                </a:solidFill>
              </a14:hiddenFill>
            </a:ext>
          </a:extLst>
        </p:spPr>
      </p:pic>
      <p:pic>
        <p:nvPicPr>
          <p:cNvPr id="4097" name="Picture 8">
            <a:extLst>
              <a:ext uri="{FF2B5EF4-FFF2-40B4-BE49-F238E27FC236}">
                <a16:creationId xmlns:a16="http://schemas.microsoft.com/office/drawing/2014/main" id="{6149ED8A-2110-4999-9750-1C65DCEAD40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760" t="4495" r="35053" b="11338"/>
          <a:stretch/>
        </p:blipFill>
        <p:spPr bwMode="auto">
          <a:xfrm>
            <a:off x="7526105" y="2491766"/>
            <a:ext cx="3949615" cy="390903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4">
            <a:extLst>
              <a:ext uri="{FF2B5EF4-FFF2-40B4-BE49-F238E27FC236}">
                <a16:creationId xmlns:a16="http://schemas.microsoft.com/office/drawing/2014/main" id="{E334DA04-CFBB-4EC6-88DC-0FB48D472A2B}"/>
              </a:ext>
            </a:extLst>
          </p:cNvPr>
          <p:cNvSpPr>
            <a:spLocks noChangeArrowheads="1"/>
          </p:cNvSpPr>
          <p:nvPr/>
        </p:nvSpPr>
        <p:spPr bwMode="auto">
          <a:xfrm>
            <a:off x="10058400" y="36931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DE"/>
          </a:p>
        </p:txBody>
      </p:sp>
      <p:sp>
        <p:nvSpPr>
          <p:cNvPr id="9" name="Rectangle 5">
            <a:extLst>
              <a:ext uri="{FF2B5EF4-FFF2-40B4-BE49-F238E27FC236}">
                <a16:creationId xmlns:a16="http://schemas.microsoft.com/office/drawing/2014/main" id="{84C75B25-B2F7-444D-9491-80BD4FF5D7BC}"/>
              </a:ext>
            </a:extLst>
          </p:cNvPr>
          <p:cNvSpPr>
            <a:spLocks noChangeArrowheads="1"/>
          </p:cNvSpPr>
          <p:nvPr/>
        </p:nvSpPr>
        <p:spPr bwMode="auto">
          <a:xfrm>
            <a:off x="4229100" y="6464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DE"/>
          </a:p>
        </p:txBody>
      </p:sp>
    </p:spTree>
    <p:extLst>
      <p:ext uri="{BB962C8B-B14F-4D97-AF65-F5344CB8AC3E}">
        <p14:creationId xmlns:p14="http://schemas.microsoft.com/office/powerpoint/2010/main" val="10517987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D76D-2BB3-DB62-137A-34526F95F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EF2DCA-CBA0-853F-10E9-04ABB3601B2F}"/>
              </a:ext>
            </a:extLst>
          </p:cNvPr>
          <p:cNvSpPr>
            <a:spLocks noGrp="1"/>
          </p:cNvSpPr>
          <p:nvPr>
            <p:ph type="title"/>
          </p:nvPr>
        </p:nvSpPr>
        <p:spPr>
          <a:xfrm>
            <a:off x="839788" y="457200"/>
            <a:ext cx="5256212" cy="1298448"/>
          </a:xfrm>
        </p:spPr>
        <p:txBody>
          <a:bodyPr>
            <a:normAutofit/>
          </a:bodyPr>
          <a:lstStyle/>
          <a:p>
            <a:r>
              <a:rPr lang="en-DE" dirty="0"/>
              <a:t>Result Visualization</a:t>
            </a:r>
            <a:endParaRPr lang="en-US" sz="2800" dirty="0"/>
          </a:p>
        </p:txBody>
      </p:sp>
      <p:sp>
        <p:nvSpPr>
          <p:cNvPr id="4" name="Text Placeholder 3">
            <a:extLst>
              <a:ext uri="{FF2B5EF4-FFF2-40B4-BE49-F238E27FC236}">
                <a16:creationId xmlns:a16="http://schemas.microsoft.com/office/drawing/2014/main" id="{9C96C9A7-A16B-019F-2056-9E8DA54BD433}"/>
              </a:ext>
            </a:extLst>
          </p:cNvPr>
          <p:cNvSpPr>
            <a:spLocks noGrp="1"/>
          </p:cNvSpPr>
          <p:nvPr>
            <p:ph type="body" sz="half" idx="2"/>
          </p:nvPr>
        </p:nvSpPr>
        <p:spPr>
          <a:xfrm>
            <a:off x="877318" y="1962150"/>
            <a:ext cx="10598402" cy="3517900"/>
          </a:xfrm>
        </p:spPr>
        <p:txBody>
          <a:bodyPr>
            <a:normAutofit/>
          </a:bodyPr>
          <a:lstStyle/>
          <a:p>
            <a:pPr algn="just"/>
            <a:r>
              <a:rPr lang="en-US" sz="2000" dirty="0"/>
              <a:t>Video:</a:t>
            </a:r>
          </a:p>
          <a:p>
            <a:pPr algn="just"/>
            <a:endParaRPr lang="en-US" sz="2000" dirty="0"/>
          </a:p>
        </p:txBody>
      </p:sp>
      <p:sp>
        <p:nvSpPr>
          <p:cNvPr id="8" name="Rectangle 4">
            <a:extLst>
              <a:ext uri="{FF2B5EF4-FFF2-40B4-BE49-F238E27FC236}">
                <a16:creationId xmlns:a16="http://schemas.microsoft.com/office/drawing/2014/main" id="{E334DA04-CFBB-4EC6-88DC-0FB48D472A2B}"/>
              </a:ext>
            </a:extLst>
          </p:cNvPr>
          <p:cNvSpPr>
            <a:spLocks noChangeArrowheads="1"/>
          </p:cNvSpPr>
          <p:nvPr/>
        </p:nvSpPr>
        <p:spPr bwMode="auto">
          <a:xfrm>
            <a:off x="10058400" y="369316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DE"/>
          </a:p>
        </p:txBody>
      </p:sp>
      <p:sp>
        <p:nvSpPr>
          <p:cNvPr id="9" name="Rectangle 5">
            <a:extLst>
              <a:ext uri="{FF2B5EF4-FFF2-40B4-BE49-F238E27FC236}">
                <a16:creationId xmlns:a16="http://schemas.microsoft.com/office/drawing/2014/main" id="{84C75B25-B2F7-444D-9491-80BD4FF5D7BC}"/>
              </a:ext>
            </a:extLst>
          </p:cNvPr>
          <p:cNvSpPr>
            <a:spLocks noChangeArrowheads="1"/>
          </p:cNvSpPr>
          <p:nvPr/>
        </p:nvSpPr>
        <p:spPr bwMode="auto">
          <a:xfrm>
            <a:off x="4229100" y="64643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DE"/>
          </a:p>
        </p:txBody>
      </p:sp>
    </p:spTree>
    <p:extLst>
      <p:ext uri="{BB962C8B-B14F-4D97-AF65-F5344CB8AC3E}">
        <p14:creationId xmlns:p14="http://schemas.microsoft.com/office/powerpoint/2010/main" val="39718166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EE9A4-0DF5-A719-CF74-BD1697A449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302CC-6BE2-7173-FB4C-93C7684F6727}"/>
              </a:ext>
            </a:extLst>
          </p:cNvPr>
          <p:cNvSpPr>
            <a:spLocks noGrp="1"/>
          </p:cNvSpPr>
          <p:nvPr>
            <p:ph type="ctrTitle"/>
          </p:nvPr>
        </p:nvSpPr>
        <p:spPr>
          <a:xfrm>
            <a:off x="1524000" y="1466177"/>
            <a:ext cx="9144000" cy="2387600"/>
          </a:xfrm>
        </p:spPr>
        <p:txBody>
          <a:bodyPr/>
          <a:lstStyle/>
          <a:p>
            <a:r>
              <a:rPr lang="en-US" dirty="0"/>
              <a:t>Week 3</a:t>
            </a:r>
          </a:p>
        </p:txBody>
      </p:sp>
      <p:sp>
        <p:nvSpPr>
          <p:cNvPr id="4" name="Subtitle 2">
            <a:extLst>
              <a:ext uri="{FF2B5EF4-FFF2-40B4-BE49-F238E27FC236}">
                <a16:creationId xmlns:a16="http://schemas.microsoft.com/office/drawing/2014/main" id="{A0BAFFA7-9B8D-2DB1-95A1-65738FDEA8B0}"/>
              </a:ext>
            </a:extLst>
          </p:cNvPr>
          <p:cNvSpPr txBox="1">
            <a:spLocks/>
          </p:cNvSpPr>
          <p:nvPr/>
        </p:nvSpPr>
        <p:spPr>
          <a:xfrm>
            <a:off x="9272603" y="6566175"/>
            <a:ext cx="3749505" cy="425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Project folder on </a:t>
            </a:r>
            <a:r>
              <a:rPr lang="en-US" sz="1600" dirty="0">
                <a:hlinkClick r:id="rId2"/>
              </a:rPr>
              <a:t>Github</a:t>
            </a:r>
            <a:r>
              <a:rPr lang="en-US" sz="1600" dirty="0"/>
              <a:t>  </a:t>
            </a:r>
          </a:p>
        </p:txBody>
      </p:sp>
      <p:sp>
        <p:nvSpPr>
          <p:cNvPr id="3" name="Subtitle 2">
            <a:extLst>
              <a:ext uri="{FF2B5EF4-FFF2-40B4-BE49-F238E27FC236}">
                <a16:creationId xmlns:a16="http://schemas.microsoft.com/office/drawing/2014/main" id="{F0C5BE62-277E-F93A-CAA0-37A687485F4B}"/>
              </a:ext>
            </a:extLst>
          </p:cNvPr>
          <p:cNvSpPr>
            <a:spLocks noGrp="1"/>
          </p:cNvSpPr>
          <p:nvPr>
            <p:ph type="subTitle" idx="1"/>
          </p:nvPr>
        </p:nvSpPr>
        <p:spPr>
          <a:xfrm>
            <a:off x="1524000" y="3853777"/>
            <a:ext cx="9144000" cy="1655762"/>
          </a:xfrm>
        </p:spPr>
        <p:txBody>
          <a:bodyPr/>
          <a:lstStyle/>
          <a:p>
            <a:r>
              <a:rPr lang="en-US" dirty="0"/>
              <a:t>Abaqus scripting with foundational vector mathematics</a:t>
            </a:r>
            <a:br>
              <a:rPr lang="en-US" dirty="0"/>
            </a:br>
            <a:endParaRPr lang="en-US" dirty="0"/>
          </a:p>
        </p:txBody>
      </p:sp>
      <p:pic>
        <p:nvPicPr>
          <p:cNvPr id="7" name="Picture 6">
            <a:extLst>
              <a:ext uri="{FF2B5EF4-FFF2-40B4-BE49-F238E27FC236}">
                <a16:creationId xmlns:a16="http://schemas.microsoft.com/office/drawing/2014/main" id="{1E77D696-59AC-583B-2E28-787C7922AA02}"/>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a:stretch>
            <a:fillRect/>
          </a:stretch>
        </p:blipFill>
        <p:spPr bwMode="auto">
          <a:xfrm>
            <a:off x="2745631" y="78631"/>
            <a:ext cx="6700737" cy="6700737"/>
          </a:xfrm>
          <a:prstGeom prst="rect">
            <a:avLst/>
          </a:prstGeom>
        </p:spPr>
      </p:pic>
    </p:spTree>
    <p:extLst>
      <p:ext uri="{BB962C8B-B14F-4D97-AF65-F5344CB8AC3E}">
        <p14:creationId xmlns:p14="http://schemas.microsoft.com/office/powerpoint/2010/main" val="52170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457200"/>
            <a:ext cx="5256212" cy="1298448"/>
          </a:xfrm>
        </p:spPr>
        <p:txBody>
          <a:bodyPr>
            <a:normAutofit/>
          </a:bodyPr>
          <a:lstStyle/>
          <a:p>
            <a:r>
              <a:rPr lang="en-US" sz="2800" dirty="0"/>
              <a:t>Translation and Rotation (2D)</a:t>
            </a:r>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8" y="2057400"/>
            <a:ext cx="5085524" cy="3517900"/>
          </a:xfrm>
        </p:spPr>
        <p:txBody>
          <a:bodyPr>
            <a:normAutofit/>
          </a:bodyPr>
          <a:lstStyle/>
          <a:p>
            <a:pPr marL="342900" indent="-342900" algn="just">
              <a:buFont typeface="Arial" panose="020B0604020202020204" pitchFamily="34" charset="0"/>
              <a:buChar char="•"/>
            </a:pPr>
            <a:r>
              <a:rPr lang="en-US" sz="2000" b="1" dirty="0"/>
              <a:t>The Local Coordinates (x and y): </a:t>
            </a:r>
            <a:r>
              <a:rPr lang="en-US" sz="2000" dirty="0"/>
              <a:t>These are the coordinates of the point measured strictly within the local coordinate system.</a:t>
            </a:r>
          </a:p>
          <a:p>
            <a:pPr marL="342900" indent="-342900" algn="just">
              <a:buFont typeface="Arial" panose="020B0604020202020204" pitchFamily="34" charset="0"/>
              <a:buChar char="•"/>
            </a:pPr>
            <a:r>
              <a:rPr lang="en-US" sz="2000" b="1" dirty="0"/>
              <a:t>The Local Origin (Xo and </a:t>
            </a:r>
            <a:r>
              <a:rPr lang="en-US" sz="2000" b="1" dirty="0" err="1"/>
              <a:t>Yo</a:t>
            </a:r>
            <a:r>
              <a:rPr lang="en-US" sz="2000" b="1" dirty="0"/>
              <a:t>): </a:t>
            </a:r>
            <a:r>
              <a:rPr lang="en-US" sz="2000" dirty="0"/>
              <a:t>These represent the exact location of the local origin, measured from the global origin.</a:t>
            </a:r>
          </a:p>
          <a:p>
            <a:pPr marL="342900" indent="-342900" algn="just">
              <a:buFont typeface="Arial" panose="020B0604020202020204" pitchFamily="34" charset="0"/>
              <a:buChar char="•"/>
            </a:pPr>
            <a:r>
              <a:rPr lang="en-US" sz="2000" b="1" dirty="0"/>
              <a:t>The Angle (theta): </a:t>
            </a:r>
            <a:r>
              <a:rPr lang="en-US" sz="2000" dirty="0"/>
              <a:t>represents the rotation of the entire local coordinate system relative to the global one. Specifically, it is the angle between the global X-axis and the local x-axis.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4623C06-79DA-B4AD-2C11-7D85BCE693B5}"/>
                  </a:ext>
                </a:extLst>
              </p:cNvPr>
              <p:cNvSpPr txBox="1"/>
              <p:nvPr/>
            </p:nvSpPr>
            <p:spPr>
              <a:xfrm>
                <a:off x="556187" y="5737128"/>
                <a:ext cx="6097218" cy="58528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en-US" i="1" smtClean="0">
                              <a:solidFill>
                                <a:srgbClr val="836967"/>
                              </a:solidFill>
                              <a:latin typeface="Cambria Math" panose="02040503050406030204" pitchFamily="18" charset="0"/>
                            </a:rPr>
                          </m:ctrlPr>
                        </m:dPr>
                        <m:e>
                          <m:m>
                            <m:mPr>
                              <m:plcHide m:val="on"/>
                              <m:mcs>
                                <m:mc>
                                  <m:mcPr>
                                    <m:count m:val="1"/>
                                    <m:mcJc m:val="center"/>
                                  </m:mcPr>
                                </m:mc>
                              </m:mcs>
                              <m:ctrlPr>
                                <a:rPr lang="en-US" i="1">
                                  <a:solidFill>
                                    <a:srgbClr val="836967"/>
                                  </a:solidFill>
                                  <a:latin typeface="Cambria Math" panose="02040503050406030204" pitchFamily="18" charset="0"/>
                                </a:rPr>
                              </m:ctrlPr>
                            </m:mPr>
                            <m:mr>
                              <m:e>
                                <m:r>
                                  <a:rPr lang="en-US" i="1">
                                    <a:latin typeface="Cambria Math" panose="02040503050406030204" pitchFamily="18" charset="0"/>
                                  </a:rPr>
                                  <m:t>𝑋</m:t>
                                </m:r>
                              </m:e>
                            </m:mr>
                            <m:mr>
                              <m:e>
                                <m:r>
                                  <a:rPr lang="en-US" i="1">
                                    <a:latin typeface="Cambria Math" panose="02040503050406030204" pitchFamily="18" charset="0"/>
                                  </a:rPr>
                                  <m:t>𝑌</m:t>
                                </m:r>
                              </m:e>
                            </m:mr>
                          </m:m>
                        </m:e>
                      </m:d>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m>
                            <m:mPr>
                              <m:plcHide m:val="on"/>
                              <m:mcs>
                                <m:mc>
                                  <m:mcPr>
                                    <m:count m:val="2"/>
                                    <m:mcJc m:val="center"/>
                                  </m:mcPr>
                                </m:mc>
                              </m:mcs>
                              <m:ctrlPr>
                                <a:rPr lang="en-US" i="1">
                                  <a:solidFill>
                                    <a:srgbClr val="836967"/>
                                  </a:solidFill>
                                  <a:latin typeface="Cambria Math" panose="02040503050406030204" pitchFamily="18" charset="0"/>
                                </a:rPr>
                              </m:ctrlPr>
                            </m:mPr>
                            <m:mr>
                              <m:e>
                                <m:r>
                                  <a:rPr lang="en-US" i="1">
                                    <a:latin typeface="Cambria Math" panose="02040503050406030204" pitchFamily="18" charset="0"/>
                                  </a:rPr>
                                  <m:t>𝑐𝑜𝑠</m:t>
                                </m:r>
                                <m:r>
                                  <a:rPr lang="en-US" i="1">
                                    <a:latin typeface="Cambria Math" panose="02040503050406030204" pitchFamily="18" charset="0"/>
                                  </a:rPr>
                                  <m:t>𝜃</m:t>
                                </m:r>
                              </m:e>
                              <m:e>
                                <m:r>
                                  <a:rPr lang="en-US" i="0">
                                    <a:latin typeface="Cambria Math" panose="02040503050406030204" pitchFamily="18" charset="0"/>
                                  </a:rPr>
                                  <m:t>−</m:t>
                                </m:r>
                                <m:r>
                                  <a:rPr lang="en-US" i="1">
                                    <a:latin typeface="Cambria Math" panose="02040503050406030204" pitchFamily="18" charset="0"/>
                                  </a:rPr>
                                  <m:t>𝑠𝑖𝑛</m:t>
                                </m:r>
                                <m:r>
                                  <a:rPr lang="en-US" i="1">
                                    <a:latin typeface="Cambria Math" panose="02040503050406030204" pitchFamily="18" charset="0"/>
                                  </a:rPr>
                                  <m:t>𝜃</m:t>
                                </m:r>
                              </m:e>
                            </m:mr>
                            <m:mr>
                              <m:e>
                                <m:r>
                                  <a:rPr lang="en-US" i="1">
                                    <a:latin typeface="Cambria Math" panose="02040503050406030204" pitchFamily="18" charset="0"/>
                                  </a:rPr>
                                  <m:t>𝑠𝑖𝑛</m:t>
                                </m:r>
                                <m:r>
                                  <a:rPr lang="en-US" i="1">
                                    <a:latin typeface="Cambria Math" panose="02040503050406030204" pitchFamily="18" charset="0"/>
                                  </a:rPr>
                                  <m:t>𝜃</m:t>
                                </m:r>
                              </m:e>
                              <m:e>
                                <m:r>
                                  <a:rPr lang="en-US" i="1">
                                    <a:latin typeface="Cambria Math" panose="02040503050406030204" pitchFamily="18" charset="0"/>
                                  </a:rPr>
                                  <m:t>𝑐𝑜𝑠</m:t>
                                </m:r>
                                <m:r>
                                  <a:rPr lang="en-US" i="1">
                                    <a:latin typeface="Cambria Math" panose="02040503050406030204" pitchFamily="18" charset="0"/>
                                  </a:rPr>
                                  <m:t>𝜃</m:t>
                                </m:r>
                              </m:e>
                            </m:mr>
                          </m:m>
                        </m:e>
                      </m:d>
                      <m:d>
                        <m:dPr>
                          <m:begChr m:val="["/>
                          <m:endChr m:val="]"/>
                          <m:ctrlPr>
                            <a:rPr lang="en-US" i="1">
                              <a:solidFill>
                                <a:srgbClr val="836967"/>
                              </a:solidFill>
                              <a:latin typeface="Cambria Math" panose="02040503050406030204" pitchFamily="18" charset="0"/>
                            </a:rPr>
                          </m:ctrlPr>
                        </m:dPr>
                        <m:e>
                          <m:m>
                            <m:mPr>
                              <m:plcHide m:val="on"/>
                              <m:mcs>
                                <m:mc>
                                  <m:mcPr>
                                    <m:count m:val="1"/>
                                    <m:mcJc m:val="center"/>
                                  </m:mcPr>
                                </m:mc>
                              </m:mcs>
                              <m:ctrlPr>
                                <a:rPr lang="en-US" i="1">
                                  <a:solidFill>
                                    <a:srgbClr val="836967"/>
                                  </a:solidFill>
                                  <a:latin typeface="Cambria Math" panose="02040503050406030204" pitchFamily="18" charset="0"/>
                                </a:rPr>
                              </m:ctrlPr>
                            </m:mPr>
                            <m:mr>
                              <m:e>
                                <m:r>
                                  <a:rPr lang="en-US" i="1">
                                    <a:latin typeface="Cambria Math" panose="02040503050406030204" pitchFamily="18" charset="0"/>
                                  </a:rPr>
                                  <m:t>𝑥</m:t>
                                </m:r>
                              </m:e>
                            </m:mr>
                            <m:mr>
                              <m:e>
                                <m:r>
                                  <a:rPr lang="en-US" i="1">
                                    <a:latin typeface="Cambria Math" panose="02040503050406030204" pitchFamily="18" charset="0"/>
                                  </a:rPr>
                                  <m:t>𝑦</m:t>
                                </m:r>
                              </m:e>
                            </m:mr>
                          </m:m>
                        </m:e>
                      </m:d>
                      <m:r>
                        <a:rPr lang="en-US" i="0">
                          <a:latin typeface="Cambria Math" panose="02040503050406030204" pitchFamily="18" charset="0"/>
                        </a:rPr>
                        <m:t>+</m:t>
                      </m:r>
                      <m:d>
                        <m:dPr>
                          <m:begChr m:val="["/>
                          <m:endChr m:val="]"/>
                          <m:ctrlPr>
                            <a:rPr lang="en-US" i="1">
                              <a:solidFill>
                                <a:srgbClr val="836967"/>
                              </a:solidFill>
                              <a:latin typeface="Cambria Math" panose="02040503050406030204" pitchFamily="18" charset="0"/>
                            </a:rPr>
                          </m:ctrlPr>
                        </m:dPr>
                        <m:e>
                          <m:m>
                            <m:mPr>
                              <m:plcHide m:val="on"/>
                              <m:mcs>
                                <m:mc>
                                  <m:mcPr>
                                    <m:count m:val="1"/>
                                    <m:mcJc m:val="center"/>
                                  </m:mcPr>
                                </m:mc>
                              </m:mcs>
                              <m:ctrlPr>
                                <a:rPr lang="en-US" i="1">
                                  <a:solidFill>
                                    <a:srgbClr val="836967"/>
                                  </a:solidFill>
                                  <a:latin typeface="Cambria Math" panose="02040503050406030204" pitchFamily="18" charset="0"/>
                                </a:rPr>
                              </m:ctrlPr>
                            </m:mPr>
                            <m:mr>
                              <m:e>
                                <m:r>
                                  <a:rPr lang="en-US" i="1">
                                    <a:latin typeface="Cambria Math" panose="02040503050406030204" pitchFamily="18" charset="0"/>
                                  </a:rPr>
                                  <m:t>𝑋𝑜</m:t>
                                </m:r>
                              </m:e>
                            </m:mr>
                            <m:mr>
                              <m:e>
                                <m:r>
                                  <a:rPr lang="en-US" i="1">
                                    <a:latin typeface="Cambria Math" panose="02040503050406030204" pitchFamily="18" charset="0"/>
                                  </a:rPr>
                                  <m:t>𝑌𝑜</m:t>
                                </m:r>
                              </m:e>
                            </m:mr>
                          </m:m>
                        </m:e>
                      </m:d>
                    </m:oMath>
                  </m:oMathPara>
                </a14:m>
                <a:endParaRPr lang="en-US" dirty="0"/>
              </a:p>
            </p:txBody>
          </p:sp>
        </mc:Choice>
        <mc:Fallback xmlns="">
          <p:sp>
            <p:nvSpPr>
              <p:cNvPr id="7" name="TextBox 6">
                <a:extLst>
                  <a:ext uri="{FF2B5EF4-FFF2-40B4-BE49-F238E27FC236}">
                    <a16:creationId xmlns:a16="http://schemas.microsoft.com/office/drawing/2014/main" id="{34623C06-79DA-B4AD-2C11-7D85BCE693B5}"/>
                  </a:ext>
                </a:extLst>
              </p:cNvPr>
              <p:cNvSpPr txBox="1">
                <a:spLocks noRot="1" noChangeAspect="1" noMove="1" noResize="1" noEditPoints="1" noAdjustHandles="1" noChangeArrowheads="1" noChangeShapeType="1" noTextEdit="1"/>
              </p:cNvSpPr>
              <p:nvPr/>
            </p:nvSpPr>
            <p:spPr>
              <a:xfrm>
                <a:off x="556187" y="5737128"/>
                <a:ext cx="6097218" cy="585288"/>
              </a:xfrm>
              <a:prstGeom prst="rect">
                <a:avLst/>
              </a:prstGeom>
              <a:blipFill>
                <a:blip r:embed="rId3"/>
                <a:stretch>
                  <a:fillRect/>
                </a:stretch>
              </a:blipFill>
            </p:spPr>
            <p:txBody>
              <a:bodyPr/>
              <a:lstStyle/>
              <a:p>
                <a:r>
                  <a:rPr lang="en-US">
                    <a:noFill/>
                  </a:rPr>
                  <a:t> </a:t>
                </a:r>
              </a:p>
            </p:txBody>
          </p:sp>
        </mc:Fallback>
      </mc:AlternateContent>
      <p:graphicFrame>
        <p:nvGraphicFramePr>
          <p:cNvPr id="9" name="Picture Placeholder 8">
            <a:extLst>
              <a:ext uri="{FF2B5EF4-FFF2-40B4-BE49-F238E27FC236}">
                <a16:creationId xmlns:a16="http://schemas.microsoft.com/office/drawing/2014/main" id="{6FCA3F9A-3C70-9E52-90AE-48D7D44E4189}"/>
              </a:ext>
            </a:extLst>
          </p:cNvPr>
          <p:cNvGraphicFramePr>
            <a:graphicFrameLocks noGrp="1" noChangeAspect="1"/>
          </p:cNvGraphicFramePr>
          <p:nvPr>
            <p:ph type="pic" idx="1"/>
            <p:extLst>
              <p:ext uri="{D42A27DB-BD31-4B8C-83A1-F6EECF244321}">
                <p14:modId xmlns:p14="http://schemas.microsoft.com/office/powerpoint/2010/main" val="2979385644"/>
              </p:ext>
            </p:extLst>
          </p:nvPr>
        </p:nvGraphicFramePr>
        <p:xfrm>
          <a:off x="6876288" y="759036"/>
          <a:ext cx="3846495" cy="5443276"/>
        </p:xfrm>
        <a:graphic>
          <a:graphicData uri="http://schemas.openxmlformats.org/presentationml/2006/ole">
            <mc:AlternateContent xmlns:mc="http://schemas.openxmlformats.org/markup-compatibility/2006">
              <mc:Choice xmlns:v="urn:schemas-microsoft-com:vml" Requires="v">
                <p:oleObj name="Acrobat Document" r:id="rId4" imgW="3777810" imgH="5346612" progId="Acrobat.Document.DC">
                  <p:embed/>
                </p:oleObj>
              </mc:Choice>
              <mc:Fallback>
                <p:oleObj name="Acrobat Document" r:id="rId4" imgW="3777810" imgH="5346612" progId="Acrobat.Document.DC">
                  <p:embed/>
                  <p:pic>
                    <p:nvPicPr>
                      <p:cNvPr id="10" name="Object 9">
                        <a:extLst>
                          <a:ext uri="{FF2B5EF4-FFF2-40B4-BE49-F238E27FC236}">
                            <a16:creationId xmlns:a16="http://schemas.microsoft.com/office/drawing/2014/main" id="{6FCA3F9A-3C70-9E52-90AE-48D7D44E4189}"/>
                          </a:ext>
                        </a:extLst>
                      </p:cNvPr>
                      <p:cNvPicPr/>
                      <p:nvPr/>
                    </p:nvPicPr>
                    <p:blipFill>
                      <a:blip r:embed="rId5"/>
                      <a:stretch>
                        <a:fillRect/>
                      </a:stretch>
                    </p:blipFill>
                    <p:spPr>
                      <a:xfrm>
                        <a:off x="6876288" y="759036"/>
                        <a:ext cx="3846495" cy="5443276"/>
                      </a:xfrm>
                      <a:prstGeom prst="rect">
                        <a:avLst/>
                      </a:prstGeom>
                    </p:spPr>
                  </p:pic>
                </p:oleObj>
              </mc:Fallback>
            </mc:AlternateContent>
          </a:graphicData>
        </a:graphic>
      </p:graphicFrame>
    </p:spTree>
    <p:extLst>
      <p:ext uri="{BB962C8B-B14F-4D97-AF65-F5344CB8AC3E}">
        <p14:creationId xmlns:p14="http://schemas.microsoft.com/office/powerpoint/2010/main" val="2627387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A8131-064D-B7EA-50FB-619CA0A296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509A5-A9C8-2214-F870-97687A5F6409}"/>
              </a:ext>
            </a:extLst>
          </p:cNvPr>
          <p:cNvSpPr>
            <a:spLocks noGrp="1"/>
          </p:cNvSpPr>
          <p:nvPr>
            <p:ph type="title"/>
          </p:nvPr>
        </p:nvSpPr>
        <p:spPr>
          <a:xfrm>
            <a:off x="839787" y="457200"/>
            <a:ext cx="8142287" cy="1298448"/>
          </a:xfrm>
        </p:spPr>
        <p:txBody>
          <a:bodyPr>
            <a:normAutofit/>
          </a:bodyPr>
          <a:lstStyle/>
          <a:p>
            <a:r>
              <a:rPr lang="en-US" sz="2800" dirty="0"/>
              <a:t>Trigonometric Projection &amp; Local-to-Global Mapping</a:t>
            </a:r>
          </a:p>
        </p:txBody>
      </p:sp>
      <p:sp>
        <p:nvSpPr>
          <p:cNvPr id="4" name="Text Placeholder 3">
            <a:extLst>
              <a:ext uri="{FF2B5EF4-FFF2-40B4-BE49-F238E27FC236}">
                <a16:creationId xmlns:a16="http://schemas.microsoft.com/office/drawing/2014/main" id="{230F9535-A0C7-F80A-F62E-123C23FD7458}"/>
              </a:ext>
            </a:extLst>
          </p:cNvPr>
          <p:cNvSpPr>
            <a:spLocks noGrp="1"/>
          </p:cNvSpPr>
          <p:nvPr>
            <p:ph type="body" sz="half" idx="2"/>
          </p:nvPr>
        </p:nvSpPr>
        <p:spPr>
          <a:xfrm>
            <a:off x="839788" y="2057400"/>
            <a:ext cx="5085524" cy="4133850"/>
          </a:xfrm>
        </p:spPr>
        <p:txBody>
          <a:bodyPr>
            <a:normAutofit fontScale="92500" lnSpcReduction="20000"/>
          </a:bodyPr>
          <a:lstStyle/>
          <a:p>
            <a:pPr marL="342900" indent="-342900" algn="just">
              <a:buFont typeface="Arial" panose="020B0604020202020204" pitchFamily="34" charset="0"/>
              <a:buChar char="•"/>
            </a:pPr>
            <a:r>
              <a:rPr lang="en-US" sz="2000" b="1" dirty="0"/>
              <a:t>Sequential Geometry: </a:t>
            </a:r>
            <a:r>
              <a:rPr lang="en-US" sz="2000" dirty="0"/>
              <a:t>Continuous quadrilateral segments require the start of each new shape to anchor perfectly to the end of the previous one.</a:t>
            </a:r>
          </a:p>
          <a:p>
            <a:pPr marL="342900" indent="-342900" algn="just">
              <a:buFont typeface="Arial" panose="020B0604020202020204" pitchFamily="34" charset="0"/>
              <a:buChar char="•"/>
            </a:pPr>
            <a:r>
              <a:rPr lang="en-US" sz="2000" b="1" dirty="0"/>
              <a:t>Dynamic Coordinate Calculation: </a:t>
            </a:r>
            <a:r>
              <a:rPr lang="en-US" sz="2000" dirty="0"/>
              <a:t>Global coordinates are projected dynamically using the base edge length (L) and the relative angle (</a:t>
            </a:r>
            <a:r>
              <a:rPr lang="en-US" sz="2000" dirty="0" err="1"/>
              <a:t>theta_base</a:t>
            </a:r>
            <a:r>
              <a:rPr lang="en-US" sz="2000" dirty="0"/>
              <a:t>) combined with local design angles (alpha, beta, gamma).</a:t>
            </a:r>
          </a:p>
          <a:p>
            <a:pPr marL="342900" indent="-342900" algn="just">
              <a:buFont typeface="Arial" panose="020B0604020202020204" pitchFamily="34" charset="0"/>
              <a:buChar char="•"/>
            </a:pPr>
            <a:r>
              <a:rPr lang="en-US" sz="2000" b="1" dirty="0"/>
              <a:t>Trigonometric Mapping: </a:t>
            </a:r>
            <a:r>
              <a:rPr lang="en-US" sz="2000" dirty="0"/>
              <a:t>The exact spatial location of new vertices is mapped into the global Abaqus coordinate system using standard functions:</a:t>
            </a:r>
          </a:p>
          <a:p>
            <a:pPr marL="342900" indent="-342900" algn="just">
              <a:buFont typeface="Arial" panose="020B0604020202020204" pitchFamily="34" charset="0"/>
              <a:buChar char="•"/>
            </a:pPr>
            <a:r>
              <a:rPr lang="en-US" sz="2000" b="1" dirty="0"/>
              <a:t>Parametric Stability: </a:t>
            </a:r>
            <a:r>
              <a:rPr lang="en-US" sz="2000" dirty="0"/>
              <a:t>This ensures vertices are always placed correctly in 3D space, regardless of how the initial base angles or widths are altered.</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5109CFE-FDCE-53F0-F5A7-0E4538DDEC91}"/>
                  </a:ext>
                </a:extLst>
              </p:cNvPr>
              <p:cNvSpPr txBox="1"/>
              <p:nvPr/>
            </p:nvSpPr>
            <p:spPr>
              <a:xfrm>
                <a:off x="5934074" y="4307069"/>
                <a:ext cx="6096000" cy="996748"/>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m>
                        <m:mPr>
                          <m:mcs>
                            <m:mc>
                              <m:mcPr>
                                <m:count m:val="1"/>
                                <m:mcJc m:val="center"/>
                              </m:mcPr>
                            </m:mc>
                          </m:mcs>
                          <m:ctrlPr>
                            <a:rPr lang="en-US" i="1" smtClean="0">
                              <a:latin typeface="Cambria Math" panose="02040503050406030204" pitchFamily="18" charset="0"/>
                            </a:rPr>
                          </m:ctrlPr>
                        </m:mPr>
                        <m:mr>
                          <m:e>
                            <m:r>
                              <a:rPr lang="en-US" i="1">
                                <a:latin typeface="Cambria Math" panose="02040503050406030204" pitchFamily="18" charset="0"/>
                              </a:rPr>
                              <m:t>𝑋</m:t>
                            </m:r>
                            <m:r>
                              <a:rPr lang="en-US" i="1">
                                <a:latin typeface="Cambria Math" panose="02040503050406030204" pitchFamily="18" charset="0"/>
                              </a:rPr>
                              <m:t>_</m:t>
                            </m:r>
                            <m:r>
                              <a:rPr lang="en-US" i="1">
                                <a:latin typeface="Cambria Math" panose="02040503050406030204" pitchFamily="18" charset="0"/>
                              </a:rPr>
                              <m:t>𝑛𝑒𝑤</m:t>
                            </m:r>
                            <m:r>
                              <a:rPr lang="en-US" i="1">
                                <a:latin typeface="Cambria Math" panose="02040503050406030204" pitchFamily="18" charset="0"/>
                              </a:rPr>
                              <m:t> = </m:t>
                            </m:r>
                            <m:r>
                              <a:rPr lang="en-US" i="1">
                                <a:latin typeface="Cambria Math" panose="02040503050406030204" pitchFamily="18" charset="0"/>
                              </a:rPr>
                              <m:t>𝑋</m:t>
                            </m:r>
                            <m:r>
                              <a:rPr lang="en-US" i="1">
                                <a:latin typeface="Cambria Math" panose="02040503050406030204" pitchFamily="18" charset="0"/>
                              </a:rPr>
                              <m:t>_</m:t>
                            </m:r>
                            <m:r>
                              <a:rPr lang="en-US" i="1">
                                <a:latin typeface="Cambria Math" panose="02040503050406030204" pitchFamily="18" charset="0"/>
                              </a:rPr>
                              <m:t>𝑏𝑎𝑠𝑒</m:t>
                            </m:r>
                            <m:r>
                              <a:rPr lang="en-US" i="1">
                                <a:latin typeface="Cambria Math" panose="02040503050406030204" pitchFamily="18" charset="0"/>
                              </a:rPr>
                              <m:t> + </m:t>
                            </m:r>
                            <m:r>
                              <a:rPr lang="en-US" i="1">
                                <a:latin typeface="Cambria Math" panose="02040503050406030204" pitchFamily="18" charset="0"/>
                              </a:rPr>
                              <m:t>𝐿</m:t>
                            </m:r>
                            <m:r>
                              <a:rPr lang="en-US" i="1">
                                <a:latin typeface="Cambria Math" panose="02040503050406030204" pitchFamily="18" charset="0"/>
                              </a:rPr>
                              <m:t> </m:t>
                            </m:r>
                            <m:r>
                              <a:rPr lang="en-US" i="1">
                                <a:latin typeface="Cambria Math" panose="02040503050406030204" pitchFamily="18" charset="0"/>
                              </a:rPr>
                              <m:t>𝑐𝑜𝑠</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_</m:t>
                            </m:r>
                            <m:r>
                              <a:rPr lang="en-US" i="1">
                                <a:latin typeface="Cambria Math" panose="02040503050406030204" pitchFamily="18" charset="0"/>
                              </a:rPr>
                              <m:t>𝑏𝑎𝑠𝑒</m:t>
                            </m:r>
                            <m:r>
                              <a:rPr lang="en-US" i="1">
                                <a:latin typeface="Cambria Math" panose="02040503050406030204" pitchFamily="18" charset="0"/>
                              </a:rPr>
                              <m:t>+ </m:t>
                            </m:r>
                            <m:r>
                              <a:rPr lang="en-US" i="1">
                                <a:latin typeface="Cambria Math" panose="02040503050406030204" pitchFamily="18" charset="0"/>
                              </a:rPr>
                              <m:t>𝛼</m:t>
                            </m:r>
                            <m:r>
                              <a:rPr lang="en-US" i="1">
                                <a:latin typeface="Cambria Math" panose="02040503050406030204" pitchFamily="18" charset="0"/>
                              </a:rPr>
                              <m:t>)</m:t>
                            </m:r>
                          </m:e>
                        </m:mr>
                        <m:mr>
                          <m:e>
                            <m:r>
                              <a:rPr lang="en-US" i="1">
                                <a:latin typeface="Cambria Math" panose="02040503050406030204" pitchFamily="18" charset="0"/>
                              </a:rPr>
                              <m:t>𝑌</m:t>
                            </m:r>
                            <m:r>
                              <a:rPr lang="en-US" i="1">
                                <a:latin typeface="Cambria Math" panose="02040503050406030204" pitchFamily="18" charset="0"/>
                              </a:rPr>
                              <m:t>_</m:t>
                            </m:r>
                            <m:r>
                              <a:rPr lang="en-US" i="1">
                                <a:latin typeface="Cambria Math" panose="02040503050406030204" pitchFamily="18" charset="0"/>
                              </a:rPr>
                              <m:t>𝑛𝑒𝑤</m:t>
                            </m:r>
                            <m:r>
                              <a:rPr lang="en-US" i="1">
                                <a:latin typeface="Cambria Math" panose="02040503050406030204" pitchFamily="18" charset="0"/>
                              </a:rPr>
                              <m:t> = </m:t>
                            </m:r>
                            <m:r>
                              <a:rPr lang="en-US" i="1">
                                <a:latin typeface="Cambria Math" panose="02040503050406030204" pitchFamily="18" charset="0"/>
                              </a:rPr>
                              <m:t>𝑌</m:t>
                            </m:r>
                            <m:r>
                              <a:rPr lang="en-US" i="1">
                                <a:latin typeface="Cambria Math" panose="02040503050406030204" pitchFamily="18" charset="0"/>
                              </a:rPr>
                              <m:t>_</m:t>
                            </m:r>
                            <m:r>
                              <a:rPr lang="en-US" i="1">
                                <a:latin typeface="Cambria Math" panose="02040503050406030204" pitchFamily="18" charset="0"/>
                              </a:rPr>
                              <m:t>𝑏𝑎𝑠𝑒</m:t>
                            </m:r>
                            <m:r>
                              <a:rPr lang="en-US" i="1">
                                <a:latin typeface="Cambria Math" panose="02040503050406030204" pitchFamily="18" charset="0"/>
                              </a:rPr>
                              <m:t> + </m:t>
                            </m:r>
                            <m:r>
                              <a:rPr lang="en-US" i="1">
                                <a:latin typeface="Cambria Math" panose="02040503050406030204" pitchFamily="18" charset="0"/>
                              </a:rPr>
                              <m:t>𝐿</m:t>
                            </m:r>
                            <m:r>
                              <a:rPr lang="en-US" i="1">
                                <a:latin typeface="Cambria Math" panose="02040503050406030204" pitchFamily="18" charset="0"/>
                              </a:rPr>
                              <m:t> </m:t>
                            </m:r>
                            <m:r>
                              <a:rPr lang="en-US" i="1">
                                <a:latin typeface="Cambria Math" panose="02040503050406030204" pitchFamily="18" charset="0"/>
                              </a:rPr>
                              <m:t>𝑠𝑖𝑛</m:t>
                            </m:r>
                            <m:r>
                              <a:rPr lang="en-US" i="1">
                                <a:latin typeface="Cambria Math" panose="02040503050406030204" pitchFamily="18" charset="0"/>
                              </a:rPr>
                              <m:t>(</m:t>
                            </m:r>
                            <m:r>
                              <a:rPr lang="en-US" i="1">
                                <a:latin typeface="Cambria Math" panose="02040503050406030204" pitchFamily="18" charset="0"/>
                              </a:rPr>
                              <m:t>𝜃</m:t>
                            </m:r>
                            <m:r>
                              <a:rPr lang="en-US" i="1">
                                <a:latin typeface="Cambria Math" panose="02040503050406030204" pitchFamily="18" charset="0"/>
                              </a:rPr>
                              <m:t>_</m:t>
                            </m:r>
                            <m:r>
                              <a:rPr lang="en-US" i="1">
                                <a:latin typeface="Cambria Math" panose="02040503050406030204" pitchFamily="18" charset="0"/>
                              </a:rPr>
                              <m:t>𝑏𝑎𝑠𝑒</m:t>
                            </m:r>
                            <m:r>
                              <a:rPr lang="en-US" i="1">
                                <a:latin typeface="Cambria Math" panose="02040503050406030204" pitchFamily="18" charset="0"/>
                              </a:rPr>
                              <m:t>+ </m:t>
                            </m:r>
                            <m:r>
                              <a:rPr lang="en-US" i="1">
                                <a:latin typeface="Cambria Math" panose="02040503050406030204" pitchFamily="18" charset="0"/>
                              </a:rPr>
                              <m:t>𝛼</m:t>
                            </m:r>
                            <m:r>
                              <a:rPr lang="en-US" i="1">
                                <a:latin typeface="Cambria Math" panose="02040503050406030204" pitchFamily="18" charset="0"/>
                              </a:rPr>
                              <m:t>)</m:t>
                            </m:r>
                          </m:e>
                        </m:mr>
                      </m:m>
                    </m:oMath>
                  </m:oMathPara>
                </a14:m>
                <a:br>
                  <a:rPr lang="en-US" sz="2400" dirty="0"/>
                </a:br>
                <a:endParaRPr lang="en-US" sz="2400" dirty="0"/>
              </a:p>
              <a:p>
                <a:pPr algn="just"/>
                <a:endParaRPr lang="en-US" sz="2400" dirty="0"/>
              </a:p>
            </p:txBody>
          </p:sp>
        </mc:Choice>
        <mc:Fallback xmlns="">
          <p:sp>
            <p:nvSpPr>
              <p:cNvPr id="7" name="TextBox 6">
                <a:extLst>
                  <a:ext uri="{FF2B5EF4-FFF2-40B4-BE49-F238E27FC236}">
                    <a16:creationId xmlns:a16="http://schemas.microsoft.com/office/drawing/2014/main" id="{D5109CFE-FDCE-53F0-F5A7-0E4538DDEC91}"/>
                  </a:ext>
                </a:extLst>
              </p:cNvPr>
              <p:cNvSpPr txBox="1">
                <a:spLocks noRot="1" noChangeAspect="1" noMove="1" noResize="1" noEditPoints="1" noAdjustHandles="1" noChangeArrowheads="1" noChangeShapeType="1" noTextEdit="1"/>
              </p:cNvSpPr>
              <p:nvPr/>
            </p:nvSpPr>
            <p:spPr>
              <a:xfrm>
                <a:off x="5934074" y="4307069"/>
                <a:ext cx="6096000" cy="996748"/>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12393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5292DE-C4F1-8915-BACA-EF44AD8451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18D788-B046-9245-D2C6-68C0495CA0A2}"/>
              </a:ext>
            </a:extLst>
          </p:cNvPr>
          <p:cNvSpPr>
            <a:spLocks noGrp="1"/>
          </p:cNvSpPr>
          <p:nvPr>
            <p:ph type="title"/>
          </p:nvPr>
        </p:nvSpPr>
        <p:spPr>
          <a:xfrm>
            <a:off x="839787" y="457200"/>
            <a:ext cx="8142287" cy="1298448"/>
          </a:xfrm>
        </p:spPr>
        <p:txBody>
          <a:bodyPr>
            <a:normAutofit/>
          </a:bodyPr>
          <a:lstStyle/>
          <a:p>
            <a:r>
              <a:rPr lang="en-US" sz="2800" dirty="0"/>
              <a:t>Linear Intersection for Vertex Determination</a:t>
            </a:r>
          </a:p>
        </p:txBody>
      </p:sp>
      <p:sp>
        <p:nvSpPr>
          <p:cNvPr id="4" name="Text Placeholder 3">
            <a:extLst>
              <a:ext uri="{FF2B5EF4-FFF2-40B4-BE49-F238E27FC236}">
                <a16:creationId xmlns:a16="http://schemas.microsoft.com/office/drawing/2014/main" id="{34B51A80-9C03-E1F2-7152-CA02D1E1C3B0}"/>
              </a:ext>
            </a:extLst>
          </p:cNvPr>
          <p:cNvSpPr>
            <a:spLocks noGrp="1"/>
          </p:cNvSpPr>
          <p:nvPr>
            <p:ph type="body" sz="half" idx="2"/>
          </p:nvPr>
        </p:nvSpPr>
        <p:spPr>
          <a:xfrm>
            <a:off x="839788" y="2057400"/>
            <a:ext cx="5085524" cy="4133850"/>
          </a:xfrm>
        </p:spPr>
        <p:txBody>
          <a:bodyPr>
            <a:normAutofit lnSpcReduction="10000"/>
          </a:bodyPr>
          <a:lstStyle/>
          <a:p>
            <a:pPr marL="342900" indent="-342900" algn="just">
              <a:buFont typeface="Arial" panose="020B0604020202020204" pitchFamily="34" charset="0"/>
              <a:buChar char="•"/>
            </a:pPr>
            <a:r>
              <a:rPr lang="en-US" sz="2000" b="1" dirty="0"/>
              <a:t>Closing Geometric Loops: </a:t>
            </a:r>
            <a:r>
              <a:rPr lang="en-US" sz="2000" dirty="0"/>
              <a:t>Identifies the exact global coordinates where converging quadrilateral edges the top and right bounds) naturally intersect.</a:t>
            </a:r>
          </a:p>
          <a:p>
            <a:pPr marL="342900" indent="-342900" algn="just">
              <a:buFont typeface="Arial" panose="020B0604020202020204" pitchFamily="34" charset="0"/>
              <a:buChar char="•"/>
            </a:pPr>
            <a:r>
              <a:rPr lang="en-US" sz="2000" b="1" dirty="0"/>
              <a:t>Determinant-Based Solution: </a:t>
            </a:r>
            <a:r>
              <a:rPr lang="en-US" sz="2000" dirty="0"/>
              <a:t>Utilizes a mathematical intersection method relying on the determinant of the direction vectors:</a:t>
            </a:r>
          </a:p>
          <a:p>
            <a:pPr marL="342900" indent="-342900" algn="just">
              <a:buFont typeface="Arial" panose="020B0604020202020204" pitchFamily="34" charset="0"/>
              <a:buChar char="•"/>
            </a:pPr>
            <a:r>
              <a:rPr lang="en-US" sz="2000" b="1" dirty="0"/>
              <a:t>Trajectory Calculation: </a:t>
            </a:r>
            <a:r>
              <a:rPr lang="en-US" sz="2000" dirty="0"/>
              <a:t>Solves for the scalar distance along the first line's trajectory to pinpoint the exact crossing point.</a:t>
            </a:r>
          </a:p>
          <a:p>
            <a:pPr marL="342900" indent="-342900" algn="just">
              <a:buFont typeface="Arial" panose="020B0604020202020204" pitchFamily="34" charset="0"/>
              <a:buChar char="•"/>
            </a:pPr>
            <a:r>
              <a:rPr lang="en-US" sz="2000" b="1" dirty="0"/>
              <a:t>Automated Accuracy: </a:t>
            </a:r>
            <a:r>
              <a:rPr lang="en-US" sz="2000" dirty="0"/>
              <a:t>Crucial for mathematically sealing the geometry without relying on manual sketching or visual approximations.</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9DC70B9-D6C2-A047-F1E7-13B47C647D5C}"/>
                  </a:ext>
                </a:extLst>
              </p:cNvPr>
              <p:cNvSpPr txBox="1"/>
              <p:nvPr/>
            </p:nvSpPr>
            <p:spPr>
              <a:xfrm>
                <a:off x="5925312" y="3604001"/>
                <a:ext cx="6096000" cy="738664"/>
              </a:xfrm>
              <a:prstGeom prst="rect">
                <a:avLst/>
              </a:prstGeom>
              <a:noFill/>
            </p:spPr>
            <p:txBody>
              <a:bodyPr wrap="square">
                <a:spAutoFit/>
              </a:bodyPr>
              <a:lstStyle/>
              <a:p>
                <a:pPr algn="just"/>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i="1">
                                  <a:latin typeface="Cambria Math" panose="02040503050406030204" pitchFamily="18" charset="0"/>
                                </a:rPr>
                                <m:t>𝜃</m:t>
                              </m:r>
                              <m:r>
                                <a:rPr lang="en-US" i="1">
                                  <a:latin typeface="Cambria Math" panose="02040503050406030204" pitchFamily="18" charset="0"/>
                                </a:rPr>
                                <m:t>1</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sin</m:t>
                          </m:r>
                        </m:fName>
                        <m:e>
                          <m:d>
                            <m:dPr>
                              <m:ctrlPr>
                                <a:rPr lang="en-US" b="0" i="1" smtClean="0">
                                  <a:latin typeface="Cambria Math" panose="02040503050406030204" pitchFamily="18" charset="0"/>
                                </a:rPr>
                              </m:ctrlPr>
                            </m:dPr>
                            <m:e>
                              <m:r>
                                <a:rPr lang="en-US" i="1">
                                  <a:latin typeface="Cambria Math" panose="02040503050406030204" pitchFamily="18" charset="0"/>
                                </a:rPr>
                                <m:t>𝜃</m:t>
                              </m:r>
                              <m:r>
                                <a:rPr lang="en-US" b="0" i="1" smtClean="0">
                                  <a:latin typeface="Cambria Math" panose="02040503050406030204" pitchFamily="18" charset="0"/>
                                </a:rPr>
                                <m:t>2</m:t>
                              </m:r>
                            </m:e>
                          </m:d>
                        </m:e>
                      </m:func>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cos</m:t>
                          </m:r>
                        </m:fName>
                        <m:e>
                          <m:d>
                            <m:dPr>
                              <m:ctrlPr>
                                <a:rPr lang="en-US" b="0" i="1" smtClean="0">
                                  <a:latin typeface="Cambria Math" panose="02040503050406030204" pitchFamily="18" charset="0"/>
                                </a:rPr>
                              </m:ctrlPr>
                            </m:dPr>
                            <m:e>
                              <m:r>
                                <a:rPr lang="en-US" i="1">
                                  <a:latin typeface="Cambria Math" panose="02040503050406030204" pitchFamily="18" charset="0"/>
                                </a:rPr>
                                <m:t>𝜃</m:t>
                              </m:r>
                              <m:r>
                                <a:rPr lang="en-US" b="0" i="1" smtClean="0">
                                  <a:latin typeface="Cambria Math" panose="02040503050406030204" pitchFamily="18" charset="0"/>
                                </a:rPr>
                                <m:t>2</m:t>
                              </m:r>
                            </m:e>
                          </m:d>
                        </m:e>
                      </m:func>
                      <m:r>
                        <a:rPr lang="en-US" b="0" i="1" smtClean="0">
                          <a:latin typeface="Cambria Math" panose="02040503050406030204" pitchFamily="18" charset="0"/>
                        </a:rPr>
                        <m:t>𝑠𝑖𝑛</m:t>
                      </m:r>
                      <m:d>
                        <m:dPr>
                          <m:ctrlPr>
                            <a:rPr lang="en-US" b="0" i="1" smtClean="0">
                              <a:latin typeface="Cambria Math" panose="02040503050406030204" pitchFamily="18" charset="0"/>
                            </a:rPr>
                          </m:ctrlPr>
                        </m:dPr>
                        <m:e>
                          <m:r>
                            <a:rPr lang="en-US" i="1">
                              <a:latin typeface="Cambria Math" panose="02040503050406030204" pitchFamily="18" charset="0"/>
                            </a:rPr>
                            <m:t>𝜃</m:t>
                          </m:r>
                          <m:r>
                            <a:rPr lang="en-US" i="1">
                              <a:latin typeface="Cambria Math" panose="02040503050406030204" pitchFamily="18" charset="0"/>
                            </a:rPr>
                            <m:t>1</m:t>
                          </m:r>
                        </m:e>
                      </m:d>
                      <m:r>
                        <a:rPr lang="en-US" b="0" i="1" smtClean="0">
                          <a:latin typeface="Cambria Math" panose="02040503050406030204" pitchFamily="18" charset="0"/>
                        </a:rPr>
                        <m:t>|</m:t>
                      </m:r>
                    </m:oMath>
                  </m:oMathPara>
                </a14:m>
                <a:br>
                  <a:rPr lang="en-US" sz="2400" dirty="0"/>
                </a:br>
                <a:endParaRPr lang="en-US" sz="2400" dirty="0"/>
              </a:p>
              <a:p>
                <a:pPr algn="just"/>
                <a:endParaRPr lang="en-US" sz="2400" dirty="0"/>
              </a:p>
            </p:txBody>
          </p:sp>
        </mc:Choice>
        <mc:Fallback xmlns="">
          <p:sp>
            <p:nvSpPr>
              <p:cNvPr id="7" name="TextBox 6">
                <a:extLst>
                  <a:ext uri="{FF2B5EF4-FFF2-40B4-BE49-F238E27FC236}">
                    <a16:creationId xmlns:a16="http://schemas.microsoft.com/office/drawing/2014/main" id="{F9DC70B9-D6C2-A047-F1E7-13B47C647D5C}"/>
                  </a:ext>
                </a:extLst>
              </p:cNvPr>
              <p:cNvSpPr txBox="1">
                <a:spLocks noRot="1" noChangeAspect="1" noMove="1" noResize="1" noEditPoints="1" noAdjustHandles="1" noChangeArrowheads="1" noChangeShapeType="1" noTextEdit="1"/>
              </p:cNvSpPr>
              <p:nvPr/>
            </p:nvSpPr>
            <p:spPr>
              <a:xfrm>
                <a:off x="5925312" y="3604001"/>
                <a:ext cx="6096000" cy="738664"/>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296621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9047CF-9615-42BB-0553-77E359D42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A2B12C-99C8-5729-1564-E48EE11EE2E6}"/>
              </a:ext>
            </a:extLst>
          </p:cNvPr>
          <p:cNvSpPr>
            <a:spLocks noGrp="1"/>
          </p:cNvSpPr>
          <p:nvPr>
            <p:ph type="title"/>
          </p:nvPr>
        </p:nvSpPr>
        <p:spPr>
          <a:xfrm>
            <a:off x="839788" y="438150"/>
            <a:ext cx="8142287" cy="1298448"/>
          </a:xfrm>
        </p:spPr>
        <p:txBody>
          <a:bodyPr>
            <a:normAutofit/>
          </a:bodyPr>
          <a:lstStyle/>
          <a:p>
            <a:r>
              <a:rPr lang="en-US" sz="2800" dirty="0"/>
              <a:t>Vector Normalization &amp; Geometric Offsetting</a:t>
            </a:r>
          </a:p>
        </p:txBody>
      </p:sp>
      <p:sp>
        <p:nvSpPr>
          <p:cNvPr id="4" name="Text Placeholder 3">
            <a:extLst>
              <a:ext uri="{FF2B5EF4-FFF2-40B4-BE49-F238E27FC236}">
                <a16:creationId xmlns:a16="http://schemas.microsoft.com/office/drawing/2014/main" id="{D341DFDF-DCF9-02C9-0C58-5138840E61A0}"/>
              </a:ext>
            </a:extLst>
          </p:cNvPr>
          <p:cNvSpPr>
            <a:spLocks noGrp="1"/>
          </p:cNvSpPr>
          <p:nvPr>
            <p:ph type="body" sz="half" idx="2"/>
          </p:nvPr>
        </p:nvSpPr>
        <p:spPr>
          <a:xfrm>
            <a:off x="839788" y="2057400"/>
            <a:ext cx="5085524" cy="4133850"/>
          </a:xfrm>
        </p:spPr>
        <p:txBody>
          <a:bodyPr>
            <a:normAutofit fontScale="92500" lnSpcReduction="10000"/>
          </a:bodyPr>
          <a:lstStyle/>
          <a:p>
            <a:pPr marL="342900" indent="-342900" algn="just">
              <a:buFont typeface="Arial" panose="020B0604020202020204" pitchFamily="34" charset="0"/>
              <a:buChar char="•"/>
            </a:pPr>
            <a:r>
              <a:rPr lang="en-US" sz="2000" b="1" dirty="0"/>
              <a:t>Defining Internal Thicknesses: </a:t>
            </a:r>
            <a:r>
              <a:rPr lang="en-US" sz="2000" dirty="0"/>
              <a:t>Generates uniform wall dimensions and precision gap cuts by mathematically offsetting the outer perimeter lines inward.</a:t>
            </a:r>
          </a:p>
          <a:p>
            <a:pPr marL="342900" indent="-342900" algn="just">
              <a:buFont typeface="Arial" panose="020B0604020202020204" pitchFamily="34" charset="0"/>
              <a:buChar char="•"/>
            </a:pPr>
            <a:r>
              <a:rPr lang="en-US" sz="2000" b="1" dirty="0"/>
              <a:t>Segment Length Calculation: </a:t>
            </a:r>
            <a:r>
              <a:rPr lang="en-US" sz="2000" dirty="0"/>
              <a:t>Computes the overall length of any given edge using the Pythagorean theorem:</a:t>
            </a:r>
          </a:p>
          <a:p>
            <a:pPr marL="342900" indent="-342900" algn="just">
              <a:buFont typeface="Arial" panose="020B0604020202020204" pitchFamily="34" charset="0"/>
              <a:buChar char="•"/>
            </a:pPr>
            <a:r>
              <a:rPr lang="en-US" sz="2000" b="1" dirty="0"/>
              <a:t>Orthogonal Direction: </a:t>
            </a:r>
            <a:r>
              <a:rPr lang="en-US" sz="2000" dirty="0"/>
              <a:t>Determines the exact perpendicular direction of the line by calculating unit normal vector components.</a:t>
            </a:r>
          </a:p>
          <a:p>
            <a:pPr marL="342900" indent="-342900" algn="just">
              <a:buFont typeface="Arial" panose="020B0604020202020204" pitchFamily="34" charset="0"/>
              <a:buChar char="•"/>
            </a:pPr>
            <a:r>
              <a:rPr lang="en-US" sz="2000" b="1" dirty="0"/>
              <a:t>Parallel Mapping: </a:t>
            </a:r>
            <a:r>
              <a:rPr lang="en-US" sz="2000" dirty="0"/>
              <a:t>Multiplies these normal vectors by the desired parametric thickness (like gap width) and adds them to the original coordinates to map a perfectly parallel inner profile.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D7632E-84DB-9410-3983-55BDB591CAFD}"/>
                  </a:ext>
                </a:extLst>
              </p:cNvPr>
              <p:cNvSpPr txBox="1"/>
              <p:nvPr/>
            </p:nvSpPr>
            <p:spPr>
              <a:xfrm>
                <a:off x="6012858" y="3561043"/>
                <a:ext cx="6096000" cy="429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𝐿</m:t>
                      </m:r>
                      <m:r>
                        <a:rPr lang="en-US" i="1">
                          <a:latin typeface="Cambria Math" panose="02040503050406030204" pitchFamily="18" charset="0"/>
                        </a:rPr>
                        <m:t>=</m:t>
                      </m:r>
                      <m:rad>
                        <m:radPr>
                          <m:degHide m:val="on"/>
                          <m:ctrlPr>
                            <a:rPr lang="en-US" i="1">
                              <a:latin typeface="Cambria Math" panose="02040503050406030204" pitchFamily="18" charset="0"/>
                            </a:rPr>
                          </m:ctrlPr>
                        </m:radPr>
                        <m:deg/>
                        <m:e>
                          <m:sSup>
                            <m:sSupPr>
                              <m:ctrlPr>
                                <a:rPr lang="en-US" i="1">
                                  <a:latin typeface="Cambria Math" panose="02040503050406030204" pitchFamily="18" charset="0"/>
                                </a:rPr>
                              </m:ctrlPr>
                            </m:sSupPr>
                            <m:e>
                              <m:r>
                                <a:rPr lang="en-US" i="1">
                                  <a:latin typeface="Cambria Math" panose="02040503050406030204" pitchFamily="18" charset="0"/>
                                </a:rPr>
                                <m:t>𝑑𝑥</m:t>
                              </m:r>
                            </m:e>
                            <m:sup>
                              <m:r>
                                <a:rPr lang="en-US" i="1">
                                  <a:latin typeface="Cambria Math" panose="02040503050406030204" pitchFamily="18" charset="0"/>
                                </a:rPr>
                                <m:t>2</m:t>
                              </m:r>
                            </m:sup>
                          </m:sSup>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𝑑𝑦</m:t>
                              </m:r>
                            </m:e>
                            <m:sup>
                              <m:r>
                                <a:rPr lang="en-US" i="1">
                                  <a:latin typeface="Cambria Math" panose="02040503050406030204" pitchFamily="18" charset="0"/>
                                </a:rPr>
                                <m:t>2</m:t>
                              </m:r>
                            </m:sup>
                          </m:sSup>
                        </m:e>
                      </m:rad>
                    </m:oMath>
                  </m:oMathPara>
                </a14:m>
                <a:endParaRPr lang="en-US" dirty="0"/>
              </a:p>
            </p:txBody>
          </p:sp>
        </mc:Choice>
        <mc:Fallback xmlns="">
          <p:sp>
            <p:nvSpPr>
              <p:cNvPr id="5" name="TextBox 4">
                <a:extLst>
                  <a:ext uri="{FF2B5EF4-FFF2-40B4-BE49-F238E27FC236}">
                    <a16:creationId xmlns:a16="http://schemas.microsoft.com/office/drawing/2014/main" id="{EED7632E-84DB-9410-3983-55BDB591CAFD}"/>
                  </a:ext>
                </a:extLst>
              </p:cNvPr>
              <p:cNvSpPr txBox="1">
                <a:spLocks noRot="1" noChangeAspect="1" noMove="1" noResize="1" noEditPoints="1" noAdjustHandles="1" noChangeArrowheads="1" noChangeShapeType="1" noTextEdit="1"/>
              </p:cNvSpPr>
              <p:nvPr/>
            </p:nvSpPr>
            <p:spPr>
              <a:xfrm>
                <a:off x="6012858" y="3561043"/>
                <a:ext cx="6096000" cy="429220"/>
              </a:xfrm>
              <a:prstGeom prst="rect">
                <a:avLst/>
              </a:prstGeom>
              <a:blipFill>
                <a:blip r:embed="rId2"/>
                <a:stretch>
                  <a:fillRect b="-11268"/>
                </a:stretch>
              </a:blipFill>
            </p:spPr>
            <p:txBody>
              <a:bodyPr/>
              <a:lstStyle/>
              <a:p>
                <a:r>
                  <a:rPr lang="en-US">
                    <a:noFill/>
                  </a:rPr>
                  <a:t> </a:t>
                </a:r>
              </a:p>
            </p:txBody>
          </p:sp>
        </mc:Fallback>
      </mc:AlternateContent>
    </p:spTree>
    <p:extLst>
      <p:ext uri="{BB962C8B-B14F-4D97-AF65-F5344CB8AC3E}">
        <p14:creationId xmlns:p14="http://schemas.microsoft.com/office/powerpoint/2010/main" val="38266130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8737-0683-4930-C18C-30278AEE6A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751A0-6F74-0BF5-65D7-3D75B20B8AAC}"/>
              </a:ext>
            </a:extLst>
          </p:cNvPr>
          <p:cNvSpPr>
            <a:spLocks noGrp="1"/>
          </p:cNvSpPr>
          <p:nvPr>
            <p:ph type="title"/>
          </p:nvPr>
        </p:nvSpPr>
        <p:spPr>
          <a:xfrm>
            <a:off x="839788" y="438150"/>
            <a:ext cx="8142287" cy="1298448"/>
          </a:xfrm>
        </p:spPr>
        <p:txBody>
          <a:bodyPr>
            <a:normAutofit/>
          </a:bodyPr>
          <a:lstStyle/>
          <a:p>
            <a:r>
              <a:rPr lang="en-US" sz="2800" dirty="0"/>
              <a:t>Orthogonal Distance for Material Assignment</a:t>
            </a:r>
          </a:p>
        </p:txBody>
      </p:sp>
      <p:sp>
        <p:nvSpPr>
          <p:cNvPr id="4" name="Text Placeholder 3">
            <a:extLst>
              <a:ext uri="{FF2B5EF4-FFF2-40B4-BE49-F238E27FC236}">
                <a16:creationId xmlns:a16="http://schemas.microsoft.com/office/drawing/2014/main" id="{CA82A36E-BDB2-D46B-7E84-2470F8472949}"/>
              </a:ext>
            </a:extLst>
          </p:cNvPr>
          <p:cNvSpPr>
            <a:spLocks noGrp="1"/>
          </p:cNvSpPr>
          <p:nvPr>
            <p:ph type="body" sz="half" idx="2"/>
          </p:nvPr>
        </p:nvSpPr>
        <p:spPr>
          <a:xfrm>
            <a:off x="839787" y="2057400"/>
            <a:ext cx="9954782" cy="3483244"/>
          </a:xfrm>
        </p:spPr>
        <p:txBody>
          <a:bodyPr>
            <a:normAutofit/>
          </a:bodyPr>
          <a:lstStyle/>
          <a:p>
            <a:pPr marL="342900" indent="-342900" algn="just">
              <a:buFont typeface="Arial" panose="020B0604020202020204" pitchFamily="34" charset="0"/>
              <a:buChar char="•"/>
            </a:pPr>
            <a:r>
              <a:rPr lang="en-US" sz="2000" b="1" dirty="0"/>
              <a:t>Automated Region Tagging: </a:t>
            </a:r>
            <a:r>
              <a:rPr lang="en-US" sz="2000" dirty="0"/>
              <a:t>Differentiates between "Tape" and "Plywood" regions computationally, eliminating the need for manual cell selection in Abaqus.</a:t>
            </a:r>
          </a:p>
          <a:p>
            <a:pPr marL="342900" indent="-342900" algn="just">
              <a:buFont typeface="Arial" panose="020B0604020202020204" pitchFamily="34" charset="0"/>
              <a:buChar char="•"/>
            </a:pPr>
            <a:r>
              <a:rPr lang="en-US" sz="2000" b="1" dirty="0"/>
              <a:t>Centroid Projection: </a:t>
            </a:r>
            <a:r>
              <a:rPr lang="en-US" sz="2000" dirty="0"/>
              <a:t>Calculates the shortest orthogonal distance from the geometric centroid of an generated Abaqus cell to the dividing line of the next cell.</a:t>
            </a:r>
          </a:p>
          <a:p>
            <a:pPr marL="342900" indent="-342900" algn="just">
              <a:buFont typeface="Arial" panose="020B0604020202020204" pitchFamily="34" charset="0"/>
              <a:buChar char="•"/>
            </a:pPr>
            <a:r>
              <a:rPr lang="en-US" sz="2000" b="1" dirty="0"/>
              <a:t>Vector Dot Product &amp; Clamping: </a:t>
            </a:r>
            <a:r>
              <a:rPr lang="en-US" sz="2000" dirty="0"/>
              <a:t>Uses the dot product to project the centroid onto the line, applying a clamping function to ensure the distance is measured only within the physical start and end of that segment.</a:t>
            </a:r>
          </a:p>
          <a:p>
            <a:pPr marL="342900" indent="-342900" algn="just">
              <a:buFont typeface="Arial" panose="020B0604020202020204" pitchFamily="34" charset="0"/>
              <a:buChar char="•"/>
            </a:pPr>
            <a:r>
              <a:rPr lang="en-US" sz="2000" b="1" dirty="0"/>
              <a:t>Tolerance-Based Identification: </a:t>
            </a:r>
            <a:r>
              <a:rPr lang="en-US" sz="2000" dirty="0"/>
              <a:t>If the computed shortest distance falls within a tightly defined tolerance, the script automatically assigns that specific cell to the Tape material group.</a:t>
            </a:r>
          </a:p>
        </p:txBody>
      </p:sp>
    </p:spTree>
    <p:extLst>
      <p:ext uri="{BB962C8B-B14F-4D97-AF65-F5344CB8AC3E}">
        <p14:creationId xmlns:p14="http://schemas.microsoft.com/office/powerpoint/2010/main" val="2244708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3ABFE-EAE1-66F6-AD8A-62AD1BF9CF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16414-1A10-B666-6E23-75E1FAC1788A}"/>
              </a:ext>
            </a:extLst>
          </p:cNvPr>
          <p:cNvSpPr>
            <a:spLocks noGrp="1"/>
          </p:cNvSpPr>
          <p:nvPr>
            <p:ph type="title"/>
          </p:nvPr>
        </p:nvSpPr>
        <p:spPr>
          <a:xfrm>
            <a:off x="839788" y="438150"/>
            <a:ext cx="8142287" cy="1298448"/>
          </a:xfrm>
        </p:spPr>
        <p:txBody>
          <a:bodyPr>
            <a:normAutofit/>
          </a:bodyPr>
          <a:lstStyle/>
          <a:p>
            <a:r>
              <a:rPr lang="en-US" sz="2800" dirty="0"/>
              <a:t>Input Variables: Global Scaling and Base Geometry</a:t>
            </a:r>
          </a:p>
        </p:txBody>
      </p:sp>
      <p:sp>
        <p:nvSpPr>
          <p:cNvPr id="8" name="Rectangle 2">
            <a:extLst>
              <a:ext uri="{FF2B5EF4-FFF2-40B4-BE49-F238E27FC236}">
                <a16:creationId xmlns:a16="http://schemas.microsoft.com/office/drawing/2014/main" id="{F8A6ACBB-EDFA-7A7D-8A47-0267510C6773}"/>
              </a:ext>
            </a:extLst>
          </p:cNvPr>
          <p:cNvSpPr>
            <a:spLocks noGrp="1" noChangeArrowheads="1"/>
          </p:cNvSpPr>
          <p:nvPr>
            <p:ph type="body" sz="half" idx="2"/>
          </p:nvPr>
        </p:nvSpPr>
        <p:spPr bwMode="auto">
          <a:xfrm>
            <a:off x="785544" y="2077520"/>
            <a:ext cx="985404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Unit Conversion &amp; Baseline:</a:t>
            </a:r>
            <a:r>
              <a:rPr kumimoji="0" lang="en-US" altLang="en-US" sz="2000" b="0" i="0" u="none" strike="noStrike" cap="none" normalizeH="0" baseline="0" dirty="0">
                <a:ln>
                  <a:noFill/>
                </a:ln>
                <a:solidFill>
                  <a:schemeClr val="tx1"/>
                </a:solidFill>
                <a:effectLst/>
              </a:rPr>
              <a:t> The scale parameter automates the conversion from millimeters to standard SI units (meters) for Abaqus, while </a:t>
            </a:r>
            <a:r>
              <a:rPr kumimoji="0" lang="en-US" altLang="en-US" sz="2000" b="0" i="0" u="none" strike="noStrike" cap="none" normalizeH="0" baseline="0" dirty="0" err="1">
                <a:ln>
                  <a:noFill/>
                </a:ln>
                <a:solidFill>
                  <a:schemeClr val="tx1"/>
                </a:solidFill>
                <a:effectLst/>
              </a:rPr>
              <a:t>W</a:t>
            </a:r>
            <a:r>
              <a:rPr lang="en-US" altLang="en-US" sz="2000" dirty="0" err="1"/>
              <a:t>o</a:t>
            </a:r>
            <a:r>
              <a:rPr kumimoji="0" lang="en-US" altLang="en-US" sz="2000" b="0" i="0" u="none" strike="noStrike" cap="none" normalizeH="0" baseline="0" dirty="0" err="1">
                <a:ln>
                  <a:noFill/>
                </a:ln>
                <a:solidFill>
                  <a:schemeClr val="tx1"/>
                </a:solidFill>
                <a:effectLst/>
              </a:rPr>
              <a:t>_mm</a:t>
            </a:r>
            <a:r>
              <a:rPr kumimoji="0" lang="en-US" altLang="en-US" sz="2000" b="0" i="0" u="none" strike="noStrike" cap="none" normalizeH="0" baseline="0" dirty="0">
                <a:ln>
                  <a:noFill/>
                </a:ln>
                <a:solidFill>
                  <a:schemeClr val="tx1"/>
                </a:solidFill>
                <a:effectLst/>
              </a:rPr>
              <a:t> sets the foundational starting width for the entire model.</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Shape &amp; Trajectory Control:</a:t>
            </a:r>
            <a:r>
              <a:rPr kumimoji="0" lang="en-US" altLang="en-US" sz="2000" b="0" i="0" u="none" strike="noStrike" cap="none" normalizeH="0" baseline="0" dirty="0">
                <a:ln>
                  <a:noFill/>
                </a:ln>
                <a:solidFill>
                  <a:schemeClr val="tx1"/>
                </a:solidFill>
                <a:effectLst/>
              </a:rPr>
              <a:t> Internal angles (</a:t>
            </a:r>
            <a:r>
              <a:rPr kumimoji="0" lang="en-US" altLang="en-US" sz="2000" b="0" i="0" u="none" strike="noStrike" cap="none" normalizeH="0" baseline="0" dirty="0" err="1">
                <a:ln>
                  <a:noFill/>
                </a:ln>
                <a:solidFill>
                  <a:schemeClr val="tx1"/>
                </a:solidFill>
                <a:effectLst/>
              </a:rPr>
              <a:t>alpha_deg</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beta_deg</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gamma_deg</a:t>
            </a:r>
            <a:r>
              <a:rPr kumimoji="0" lang="en-US" altLang="en-US" sz="2000" b="0" i="0" u="none" strike="noStrike" cap="none" normalizeH="0" baseline="0" dirty="0">
                <a:ln>
                  <a:noFill/>
                </a:ln>
                <a:solidFill>
                  <a:schemeClr val="tx1"/>
                </a:solidFill>
                <a:effectLst/>
              </a:rPr>
              <a:t>) dictate the specific curvature, tightness, and geometric path of the repeating quadrilateral segments.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Customizable Length &amp; Tapering:</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num_quads</a:t>
            </a:r>
            <a:r>
              <a:rPr kumimoji="0" lang="en-US" altLang="en-US" sz="2000" b="0" i="0" u="none" strike="noStrike" cap="none" normalizeH="0" baseline="0" dirty="0">
                <a:ln>
                  <a:noFill/>
                </a:ln>
                <a:solidFill>
                  <a:schemeClr val="tx1"/>
                </a:solidFill>
                <a:effectLst/>
              </a:rPr>
              <a:t> defines the total number of wrapping turns. The </a:t>
            </a:r>
            <a:r>
              <a:rPr kumimoji="0" lang="en-US" altLang="en-US" sz="2000" b="0" i="0" u="none" strike="noStrike" cap="none" normalizeH="0" baseline="0" dirty="0" err="1">
                <a:ln>
                  <a:noFill/>
                </a:ln>
                <a:solidFill>
                  <a:schemeClr val="tx1"/>
                </a:solidFill>
                <a:effectLst/>
              </a:rPr>
              <a:t>thicknesses_mm</a:t>
            </a:r>
            <a:r>
              <a:rPr kumimoji="0" lang="en-US" altLang="en-US" sz="2000" b="0" i="0" u="none" strike="noStrike" cap="none" normalizeH="0" baseline="0" dirty="0">
                <a:ln>
                  <a:noFill/>
                </a:ln>
                <a:solidFill>
                  <a:schemeClr val="tx1"/>
                </a:solidFill>
                <a:effectLst/>
              </a:rPr>
              <a:t> array allows for custom tapering, such as creating robust central walls that thin out toward the edges.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3D Extrusion:</a:t>
            </a:r>
            <a:r>
              <a:rPr kumimoji="0" lang="en-US" altLang="en-US" sz="2000" b="0" i="0" u="none" strike="noStrike" cap="none" normalizeH="0" baseline="0" dirty="0">
                <a:ln>
                  <a:noFill/>
                </a:ln>
                <a:solidFill>
                  <a:schemeClr val="tx1"/>
                </a:solidFill>
                <a:effectLst/>
              </a:rPr>
              <a:t> </a:t>
            </a:r>
            <a:r>
              <a:rPr kumimoji="0" lang="en-US" altLang="en-US" sz="2000" b="0" i="0" u="none" strike="noStrike" cap="none" normalizeH="0" baseline="0" dirty="0" err="1">
                <a:ln>
                  <a:noFill/>
                </a:ln>
                <a:solidFill>
                  <a:schemeClr val="tx1"/>
                </a:solidFill>
                <a:effectLst/>
              </a:rPr>
              <a:t>extrude_depth</a:t>
            </a:r>
            <a:r>
              <a:rPr kumimoji="0" lang="en-US" altLang="en-US" sz="2000" b="0" i="0" u="none" strike="noStrike" cap="none" normalizeH="0" baseline="0" dirty="0">
                <a:ln>
                  <a:noFill/>
                </a:ln>
                <a:solidFill>
                  <a:schemeClr val="tx1"/>
                </a:solidFill>
                <a:effectLst/>
              </a:rPr>
              <a:t> determines the final overall thickness when the 2D planar sketch is pulled into a 3D solid body.</a:t>
            </a:r>
          </a:p>
        </p:txBody>
      </p:sp>
    </p:spTree>
    <p:extLst>
      <p:ext uri="{BB962C8B-B14F-4D97-AF65-F5344CB8AC3E}">
        <p14:creationId xmlns:p14="http://schemas.microsoft.com/office/powerpoint/2010/main" val="1103645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A53A6-B95D-0793-829D-EC4122CAFF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F6FD5B-A989-AF90-AD99-A647C2E059C5}"/>
              </a:ext>
            </a:extLst>
          </p:cNvPr>
          <p:cNvSpPr>
            <a:spLocks noGrp="1"/>
          </p:cNvSpPr>
          <p:nvPr>
            <p:ph type="title"/>
          </p:nvPr>
        </p:nvSpPr>
        <p:spPr>
          <a:xfrm>
            <a:off x="839788" y="438150"/>
            <a:ext cx="8142287" cy="1298448"/>
          </a:xfrm>
        </p:spPr>
        <p:txBody>
          <a:bodyPr>
            <a:normAutofit/>
          </a:bodyPr>
          <a:lstStyle/>
          <a:p>
            <a:r>
              <a:rPr lang="en-US" sz="2800" dirty="0"/>
              <a:t>Input Variables: Cut and Hinge Geometry</a:t>
            </a:r>
          </a:p>
        </p:txBody>
      </p:sp>
      <p:sp>
        <p:nvSpPr>
          <p:cNvPr id="8" name="Rectangle 2">
            <a:extLst>
              <a:ext uri="{FF2B5EF4-FFF2-40B4-BE49-F238E27FC236}">
                <a16:creationId xmlns:a16="http://schemas.microsoft.com/office/drawing/2014/main" id="{1FE81A4E-FF40-D780-0D2D-E8037489C013}"/>
              </a:ext>
            </a:extLst>
          </p:cNvPr>
          <p:cNvSpPr>
            <a:spLocks noGrp="1" noChangeArrowheads="1"/>
          </p:cNvSpPr>
          <p:nvPr>
            <p:ph type="body" sz="half" idx="2"/>
          </p:nvPr>
        </p:nvSpPr>
        <p:spPr bwMode="auto">
          <a:xfrm>
            <a:off x="839788" y="2282520"/>
            <a:ext cx="999352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Layer Separation:</a:t>
            </a:r>
            <a:r>
              <a:rPr kumimoji="0" lang="en-US" altLang="en-US" sz="2000" i="0" u="none" strike="noStrike" cap="none" normalizeH="0" baseline="0" dirty="0">
                <a:ln>
                  <a:noFill/>
                </a:ln>
                <a:solidFill>
                  <a:schemeClr val="tx1"/>
                </a:solidFill>
                <a:effectLst/>
              </a:rPr>
              <a:t> </a:t>
            </a:r>
            <a:r>
              <a:rPr kumimoji="0" lang="en-US" altLang="en-US" sz="2000" i="0" u="none" strike="noStrike" cap="none" normalizeH="0" baseline="0" dirty="0" err="1">
                <a:ln>
                  <a:noFill/>
                </a:ln>
                <a:solidFill>
                  <a:schemeClr val="tx1"/>
                </a:solidFill>
                <a:effectLst/>
              </a:rPr>
              <a:t>gap_thickness_mm</a:t>
            </a:r>
            <a:r>
              <a:rPr kumimoji="0" lang="en-US" altLang="en-US" sz="2000" i="0" u="none" strike="noStrike" cap="none" normalizeH="0" baseline="0" dirty="0">
                <a:ln>
                  <a:noFill/>
                </a:ln>
                <a:solidFill>
                  <a:schemeClr val="tx1"/>
                </a:solidFill>
                <a:effectLst/>
              </a:rPr>
              <a:t> establishes the vertical slit that physically separates the top and bottom layers of the structure.</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Mechanical Hinge Stiffness: </a:t>
            </a:r>
            <a:r>
              <a:rPr kumimoji="0" lang="en-US" altLang="en-US" sz="2000" i="0" u="none" strike="noStrike" cap="none" normalizeH="0" baseline="0" dirty="0">
                <a:ln>
                  <a:noFill/>
                </a:ln>
                <a:solidFill>
                  <a:schemeClr val="tx1"/>
                </a:solidFill>
                <a:effectLst/>
              </a:rPr>
              <a:t>The </a:t>
            </a:r>
            <a:r>
              <a:rPr kumimoji="0" lang="en-US" altLang="en-US" sz="2000" i="0" u="none" strike="noStrike" cap="none" normalizeH="0" baseline="0" dirty="0" err="1">
                <a:ln>
                  <a:noFill/>
                </a:ln>
                <a:solidFill>
                  <a:schemeClr val="tx1"/>
                </a:solidFill>
                <a:effectLst/>
              </a:rPr>
              <a:t>web_thickness_mm</a:t>
            </a:r>
            <a:r>
              <a:rPr kumimoji="0" lang="en-US" altLang="en-US" sz="2000" i="0" u="none" strike="noStrike" cap="none" normalizeH="0" baseline="0" dirty="0">
                <a:ln>
                  <a:noFill/>
                </a:ln>
                <a:solidFill>
                  <a:schemeClr val="tx1"/>
                </a:solidFill>
                <a:effectLst/>
              </a:rPr>
              <a:t> defines the thin, continuous strip of material connecting adjacent segments. Modifying this directly impacts how easily the hinge bends or yields.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Kinematic Direction: </a:t>
            </a:r>
            <a:r>
              <a:rPr kumimoji="0" lang="en-US" altLang="en-US" sz="2000" i="0" u="none" strike="noStrike" cap="none" normalizeH="0" baseline="0" dirty="0">
                <a:ln>
                  <a:noFill/>
                </a:ln>
                <a:solidFill>
                  <a:schemeClr val="tx1"/>
                </a:solidFill>
                <a:effectLst/>
              </a:rPr>
              <a:t>The </a:t>
            </a:r>
            <a:r>
              <a:rPr kumimoji="0" lang="en-US" altLang="en-US" sz="2000" i="0" u="none" strike="noStrike" cap="none" normalizeH="0" baseline="0" dirty="0" err="1">
                <a:ln>
                  <a:noFill/>
                </a:ln>
                <a:solidFill>
                  <a:schemeClr val="tx1"/>
                </a:solidFill>
                <a:effectLst/>
              </a:rPr>
              <a:t>web_side</a:t>
            </a:r>
            <a:r>
              <a:rPr kumimoji="0" lang="en-US" altLang="en-US" sz="2000" i="0" u="none" strike="noStrike" cap="none" normalizeH="0" baseline="0" dirty="0">
                <a:ln>
                  <a:noFill/>
                </a:ln>
                <a:solidFill>
                  <a:schemeClr val="tx1"/>
                </a:solidFill>
                <a:effectLst/>
              </a:rPr>
              <a:t> toggle (Left/Right) determines which side of the perimeter acts as the continuous hinge, driving the folding kinematics of the final part.</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rPr>
              <a:t>Collision Prevention: </a:t>
            </a:r>
            <a:r>
              <a:rPr kumimoji="0" lang="en-US" altLang="en-US" sz="2000" i="0" u="none" strike="noStrike" cap="none" normalizeH="0" baseline="0" dirty="0" err="1">
                <a:ln>
                  <a:noFill/>
                </a:ln>
                <a:solidFill>
                  <a:schemeClr val="tx1"/>
                </a:solidFill>
                <a:effectLst/>
              </a:rPr>
              <a:t>divider_cut_width</a:t>
            </a:r>
            <a:r>
              <a:rPr kumimoji="0" lang="en-US" altLang="en-US" sz="2000" i="0" u="none" strike="noStrike" cap="none" normalizeH="0" baseline="0" dirty="0">
                <a:ln>
                  <a:noFill/>
                </a:ln>
                <a:solidFill>
                  <a:schemeClr val="tx1"/>
                </a:solidFill>
                <a:effectLst/>
              </a:rPr>
              <a:t> and depth control the physical gaps routed between faces, ensuring they do not intersect or collide during large rotational deformations in the simulation.</a:t>
            </a:r>
          </a:p>
        </p:txBody>
      </p:sp>
    </p:spTree>
    <p:extLst>
      <p:ext uri="{BB962C8B-B14F-4D97-AF65-F5344CB8AC3E}">
        <p14:creationId xmlns:p14="http://schemas.microsoft.com/office/powerpoint/2010/main" val="571641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3E6EA-4103-B1A7-C628-FF093ED32B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B45FA-3F9C-9EC7-D2B5-BC75613E4FCF}"/>
              </a:ext>
            </a:extLst>
          </p:cNvPr>
          <p:cNvSpPr>
            <a:spLocks noGrp="1"/>
          </p:cNvSpPr>
          <p:nvPr>
            <p:ph type="title"/>
          </p:nvPr>
        </p:nvSpPr>
        <p:spPr>
          <a:xfrm>
            <a:off x="839788" y="438150"/>
            <a:ext cx="8142287" cy="1298448"/>
          </a:xfrm>
        </p:spPr>
        <p:txBody>
          <a:bodyPr>
            <a:normAutofit/>
          </a:bodyPr>
          <a:lstStyle/>
          <a:p>
            <a:r>
              <a:rPr lang="en-US" sz="2800" dirty="0"/>
              <a:t>Input Variables: Material and Mesh Properties</a:t>
            </a:r>
          </a:p>
        </p:txBody>
      </p:sp>
      <p:sp>
        <p:nvSpPr>
          <p:cNvPr id="8" name="Rectangle 2">
            <a:extLst>
              <a:ext uri="{FF2B5EF4-FFF2-40B4-BE49-F238E27FC236}">
                <a16:creationId xmlns:a16="http://schemas.microsoft.com/office/drawing/2014/main" id="{1B2CFB70-7B06-1A25-B710-E539C0C03C04}"/>
              </a:ext>
            </a:extLst>
          </p:cNvPr>
          <p:cNvSpPr>
            <a:spLocks noGrp="1" noChangeArrowheads="1"/>
          </p:cNvSpPr>
          <p:nvPr>
            <p:ph type="body" sz="half" idx="2"/>
          </p:nvPr>
        </p:nvSpPr>
        <p:spPr bwMode="auto">
          <a:xfrm>
            <a:off x="553068" y="2230259"/>
            <a:ext cx="1012526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Layer Separation: </a:t>
            </a:r>
            <a:r>
              <a:rPr kumimoji="0" lang="en-US" altLang="en-US" sz="2000" i="0" u="none" strike="noStrike" cap="none" normalizeH="0" baseline="0" dirty="0">
                <a:ln>
                  <a:noFill/>
                </a:ln>
                <a:solidFill>
                  <a:schemeClr val="tx1"/>
                </a:solidFill>
                <a:effectLst/>
                <a:latin typeface="Arial" panose="020B0604020202020204" pitchFamily="34" charset="0"/>
              </a:rPr>
              <a:t>Rapid Material Testing: Centralized variables for Density, Young's Modulus (E), and Poisson's ratio (nu) allow for quick iterations between different physical materials for the "Tape" and "Plywood" regions.</a:t>
            </a:r>
            <a:endParaRPr lang="en-US" altLang="en-US" sz="20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Global Element Sizing</a:t>
            </a:r>
            <a:r>
              <a:rPr kumimoji="0" lang="en-US" altLang="en-US" sz="2000" i="0" u="none" strike="noStrike" cap="none" normalizeH="0" baseline="0" dirty="0">
                <a:ln>
                  <a:noFill/>
                </a:ln>
                <a:solidFill>
                  <a:schemeClr val="tx1"/>
                </a:solidFill>
                <a:effectLst/>
                <a:latin typeface="Arial" panose="020B0604020202020204" pitchFamily="34" charset="0"/>
              </a:rPr>
              <a:t>: </a:t>
            </a:r>
            <a:r>
              <a:rPr kumimoji="0" lang="en-US" altLang="en-US" sz="2000" i="0" u="none" strike="noStrike" cap="none" normalizeH="0" baseline="0" dirty="0" err="1">
                <a:ln>
                  <a:noFill/>
                </a:ln>
                <a:solidFill>
                  <a:schemeClr val="tx1"/>
                </a:solidFill>
                <a:effectLst/>
                <a:latin typeface="Arial" panose="020B0604020202020204" pitchFamily="34" charset="0"/>
              </a:rPr>
              <a:t>mesh_size_mm</a:t>
            </a:r>
            <a:r>
              <a:rPr kumimoji="0" lang="en-US" altLang="en-US" sz="2000" i="0" u="none" strike="noStrike" cap="none" normalizeH="0" baseline="0" dirty="0">
                <a:ln>
                  <a:noFill/>
                </a:ln>
                <a:solidFill>
                  <a:schemeClr val="tx1"/>
                </a:solidFill>
                <a:effectLst/>
                <a:latin typeface="Arial" panose="020B0604020202020204" pitchFamily="34" charset="0"/>
              </a:rPr>
              <a:t> defines the target edge length for the finite elements across the entire generated structure.</a:t>
            </a:r>
            <a:endParaRPr lang="en-US" altLang="en-US" sz="2000" dirty="0">
              <a:latin typeface="Arial" panose="020B0604020202020204" pitchFamily="3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Resolution vs. Speed Trade-off: </a:t>
            </a:r>
            <a:r>
              <a:rPr kumimoji="0" lang="en-US" altLang="en-US" sz="2000" i="0" u="none" strike="noStrike" cap="none" normalizeH="0" baseline="0" dirty="0">
                <a:ln>
                  <a:noFill/>
                </a:ln>
                <a:solidFill>
                  <a:schemeClr val="tx1"/>
                </a:solidFill>
                <a:effectLst/>
                <a:latin typeface="Arial" panose="020B0604020202020204" pitchFamily="34" charset="0"/>
              </a:rPr>
              <a:t>Increasing the mesh size produces a coarse mesh ideal for fast, draft iterations. Decreasing the size generates a highly dense mesh necessary for capturing high-stress concentrations at the hinges.</a:t>
            </a:r>
          </a:p>
        </p:txBody>
      </p:sp>
    </p:spTree>
    <p:extLst>
      <p:ext uri="{BB962C8B-B14F-4D97-AF65-F5344CB8AC3E}">
        <p14:creationId xmlns:p14="http://schemas.microsoft.com/office/powerpoint/2010/main" val="258969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6C944-74FA-C31C-FCC1-9483352F7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D61067-213C-ABD3-8723-AE53A82402FD}"/>
              </a:ext>
            </a:extLst>
          </p:cNvPr>
          <p:cNvSpPr>
            <a:spLocks noGrp="1"/>
          </p:cNvSpPr>
          <p:nvPr>
            <p:ph type="ctrTitle"/>
          </p:nvPr>
        </p:nvSpPr>
        <p:spPr>
          <a:xfrm>
            <a:off x="1524000" y="1466177"/>
            <a:ext cx="9144000" cy="2387600"/>
          </a:xfrm>
        </p:spPr>
        <p:txBody>
          <a:bodyPr/>
          <a:lstStyle/>
          <a:p>
            <a:r>
              <a:rPr lang="en-US" dirty="0"/>
              <a:t>Week 4 </a:t>
            </a:r>
            <a:r>
              <a:rPr lang="en-US" sz="1200" dirty="0"/>
              <a:t>&amp; 5</a:t>
            </a:r>
            <a:endParaRPr lang="en-US" dirty="0"/>
          </a:p>
        </p:txBody>
      </p:sp>
      <p:sp>
        <p:nvSpPr>
          <p:cNvPr id="4" name="Subtitle 2">
            <a:extLst>
              <a:ext uri="{FF2B5EF4-FFF2-40B4-BE49-F238E27FC236}">
                <a16:creationId xmlns:a16="http://schemas.microsoft.com/office/drawing/2014/main" id="{8673D612-28A4-9158-417F-EEDE1F73A92E}"/>
              </a:ext>
            </a:extLst>
          </p:cNvPr>
          <p:cNvSpPr txBox="1">
            <a:spLocks/>
          </p:cNvSpPr>
          <p:nvPr/>
        </p:nvSpPr>
        <p:spPr>
          <a:xfrm>
            <a:off x="9272603" y="6566175"/>
            <a:ext cx="3749505" cy="425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Project folder on </a:t>
            </a:r>
            <a:r>
              <a:rPr lang="en-US" sz="1600" dirty="0">
                <a:hlinkClick r:id="rId2"/>
              </a:rPr>
              <a:t>Github</a:t>
            </a:r>
            <a:r>
              <a:rPr lang="en-US" sz="1600" dirty="0"/>
              <a:t>  </a:t>
            </a:r>
          </a:p>
        </p:txBody>
      </p:sp>
      <p:sp>
        <p:nvSpPr>
          <p:cNvPr id="3" name="Subtitle 2">
            <a:extLst>
              <a:ext uri="{FF2B5EF4-FFF2-40B4-BE49-F238E27FC236}">
                <a16:creationId xmlns:a16="http://schemas.microsoft.com/office/drawing/2014/main" id="{AB83F192-AB89-0B5F-9C68-CCE0CE2554C6}"/>
              </a:ext>
            </a:extLst>
          </p:cNvPr>
          <p:cNvSpPr>
            <a:spLocks noGrp="1"/>
          </p:cNvSpPr>
          <p:nvPr>
            <p:ph type="subTitle" idx="1"/>
          </p:nvPr>
        </p:nvSpPr>
        <p:spPr>
          <a:xfrm>
            <a:off x="1524000" y="3853777"/>
            <a:ext cx="9144000" cy="1655762"/>
          </a:xfrm>
        </p:spPr>
        <p:txBody>
          <a:bodyPr/>
          <a:lstStyle/>
          <a:p>
            <a:r>
              <a:rPr lang="en-US" dirty="0" err="1"/>
              <a:t>pyScript</a:t>
            </a:r>
            <a:r>
              <a:rPr lang="en-US" dirty="0"/>
              <a:t> update,</a:t>
            </a:r>
          </a:p>
          <a:p>
            <a:r>
              <a:rPr lang="en-US" dirty="0"/>
              <a:t>Data collection &amp; Logarithmic spiral fitting</a:t>
            </a:r>
          </a:p>
        </p:txBody>
      </p:sp>
      <p:pic>
        <p:nvPicPr>
          <p:cNvPr id="7" name="Picture 6">
            <a:extLst>
              <a:ext uri="{FF2B5EF4-FFF2-40B4-BE49-F238E27FC236}">
                <a16:creationId xmlns:a16="http://schemas.microsoft.com/office/drawing/2014/main" id="{36AA15F0-380F-B4AA-0718-00FFC2817798}"/>
              </a:ext>
            </a:extLst>
          </p:cNvPr>
          <p:cNvPicPr>
            <a:picLocks noChangeAspect="1"/>
          </p:cNvPicPr>
          <p:nvPr/>
        </p:nvPicPr>
        <p:blipFill>
          <a:blip r:embed="rId3">
            <a:alphaModFix amt="5000"/>
            <a:extLst>
              <a:ext uri="{28A0092B-C50C-407E-A947-70E740481C1C}">
                <a14:useLocalDpi xmlns:a14="http://schemas.microsoft.com/office/drawing/2010/main" val="0"/>
              </a:ext>
            </a:extLst>
          </a:blip>
          <a:srcRect/>
          <a:stretch>
            <a:fillRect/>
          </a:stretch>
        </p:blipFill>
        <p:spPr bwMode="auto">
          <a:xfrm>
            <a:off x="2745631" y="78631"/>
            <a:ext cx="6700737" cy="6700737"/>
          </a:xfrm>
          <a:prstGeom prst="rect">
            <a:avLst/>
          </a:prstGeom>
        </p:spPr>
      </p:pic>
    </p:spTree>
    <p:extLst>
      <p:ext uri="{BB962C8B-B14F-4D97-AF65-F5344CB8AC3E}">
        <p14:creationId xmlns:p14="http://schemas.microsoft.com/office/powerpoint/2010/main" val="105975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457200"/>
            <a:ext cx="5256212" cy="1298448"/>
          </a:xfrm>
        </p:spPr>
        <p:txBody>
          <a:bodyPr>
            <a:normAutofit/>
          </a:bodyPr>
          <a:lstStyle/>
          <a:p>
            <a:r>
              <a:rPr lang="en-US" sz="2800" dirty="0"/>
              <a:t>Script (modifications)</a:t>
            </a:r>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8" y="2057399"/>
            <a:ext cx="4893228" cy="4343401"/>
          </a:xfrm>
        </p:spPr>
        <p:txBody>
          <a:bodyPr>
            <a:normAutofit/>
          </a:bodyPr>
          <a:lstStyle/>
          <a:p>
            <a:pPr marL="285750" indent="-285750" algn="just">
              <a:buFont typeface="Arial" panose="020B0604020202020204" pitchFamily="34" charset="0"/>
              <a:buChar char="•"/>
            </a:pPr>
            <a:r>
              <a:rPr lang="en-US" sz="2000" dirty="0" err="1"/>
              <a:t>Encastre</a:t>
            </a:r>
            <a:r>
              <a:rPr lang="en-US" sz="2000" dirty="0"/>
              <a:t> (fixed) boundary on the largest quadrilateral induced unwanted 3D out-of-plane deformation at the spiral tip. I relocated the fixed constraint to the interface between the two largest quadrilaterals.</a:t>
            </a:r>
          </a:p>
          <a:p>
            <a:pPr marL="285750" indent="-285750" algn="just">
              <a:buFont typeface="Arial" panose="020B0604020202020204" pitchFamily="34" charset="0"/>
              <a:buChar char="•"/>
            </a:pPr>
            <a:r>
              <a:rPr lang="en-US" sz="2000" dirty="0"/>
              <a:t>Introduced datum planes for strategic partitioning to enforce precise mesh boundaries and stabilize element quality.</a:t>
            </a:r>
          </a:p>
          <a:p>
            <a:pPr marL="285750" indent="-285750" algn="just">
              <a:buFont typeface="Arial" panose="020B0604020202020204" pitchFamily="34" charset="0"/>
              <a:buChar char="•"/>
            </a:pPr>
            <a:r>
              <a:rPr lang="en-US" sz="2000" dirty="0"/>
              <a:t>Replaced displacement constraints with Surface Traction, correctly accounting for the lack of rotational degrees of freedom in 3D solid elements.</a:t>
            </a:r>
          </a:p>
        </p:txBody>
      </p:sp>
      <p:pic>
        <p:nvPicPr>
          <p:cNvPr id="6" name="Picture 5">
            <a:extLst>
              <a:ext uri="{FF2B5EF4-FFF2-40B4-BE49-F238E27FC236}">
                <a16:creationId xmlns:a16="http://schemas.microsoft.com/office/drawing/2014/main" id="{721EE996-5197-4D08-9D65-28FBEB392FC1}"/>
              </a:ext>
            </a:extLst>
          </p:cNvPr>
          <p:cNvPicPr>
            <a:picLocks noChangeAspect="1"/>
          </p:cNvPicPr>
          <p:nvPr/>
        </p:nvPicPr>
        <p:blipFill rotWithShape="1">
          <a:blip r:embed="rId2"/>
          <a:srcRect r="3344"/>
          <a:stretch/>
        </p:blipFill>
        <p:spPr>
          <a:xfrm>
            <a:off x="8836380" y="437146"/>
            <a:ext cx="3150306" cy="3619457"/>
          </a:xfrm>
          <a:prstGeom prst="rect">
            <a:avLst/>
          </a:prstGeom>
          <a:effectLst>
            <a:glow rad="63500">
              <a:schemeClr val="accent2">
                <a:satMod val="175000"/>
                <a:alpha val="40000"/>
              </a:schemeClr>
            </a:glow>
          </a:effectLst>
        </p:spPr>
      </p:pic>
      <p:pic>
        <p:nvPicPr>
          <p:cNvPr id="8" name="Picture Placeholder 7">
            <a:extLst>
              <a:ext uri="{FF2B5EF4-FFF2-40B4-BE49-F238E27FC236}">
                <a16:creationId xmlns:a16="http://schemas.microsoft.com/office/drawing/2014/main" id="{049D58B4-DD26-4504-AC8C-3F904D32A9A3}"/>
              </a:ext>
            </a:extLst>
          </p:cNvPr>
          <p:cNvPicPr>
            <a:picLocks noGrp="1"/>
          </p:cNvPicPr>
          <p:nvPr>
            <p:ph type="pic" idx="1"/>
          </p:nvPr>
        </p:nvPicPr>
        <p:blipFill rotWithShape="1">
          <a:blip r:embed="rId3"/>
          <a:srcRect l="15980" t="17256" r="9156" b="17256"/>
          <a:stretch/>
        </p:blipFill>
        <p:spPr>
          <a:xfrm>
            <a:off x="6458985" y="2744766"/>
            <a:ext cx="3321510" cy="3821088"/>
          </a:xfrm>
          <a:prstGeom prst="rect">
            <a:avLst/>
          </a:prstGeom>
          <a:effectLst>
            <a:glow rad="63500">
              <a:schemeClr val="accent6">
                <a:satMod val="175000"/>
                <a:alpha val="40000"/>
              </a:schemeClr>
            </a:glow>
          </a:effectLst>
        </p:spPr>
      </p:pic>
      <p:sp>
        <p:nvSpPr>
          <p:cNvPr id="10" name="Title 1">
            <a:extLst>
              <a:ext uri="{FF2B5EF4-FFF2-40B4-BE49-F238E27FC236}">
                <a16:creationId xmlns:a16="http://schemas.microsoft.com/office/drawing/2014/main" id="{1019D515-379F-41F8-BD46-D24141D31DF3}"/>
              </a:ext>
            </a:extLst>
          </p:cNvPr>
          <p:cNvSpPr txBox="1">
            <a:spLocks/>
          </p:cNvSpPr>
          <p:nvPr/>
        </p:nvSpPr>
        <p:spPr>
          <a:xfrm>
            <a:off x="8742338" y="126716"/>
            <a:ext cx="1038157" cy="33086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400" dirty="0"/>
              <a:t>Before </a:t>
            </a:r>
          </a:p>
        </p:txBody>
      </p:sp>
      <p:sp>
        <p:nvSpPr>
          <p:cNvPr id="11" name="Title 1">
            <a:extLst>
              <a:ext uri="{FF2B5EF4-FFF2-40B4-BE49-F238E27FC236}">
                <a16:creationId xmlns:a16="http://schemas.microsoft.com/office/drawing/2014/main" id="{C39E87F6-C7D2-4772-9AA9-E07A7626A9EE}"/>
              </a:ext>
            </a:extLst>
          </p:cNvPr>
          <p:cNvSpPr txBox="1">
            <a:spLocks/>
          </p:cNvSpPr>
          <p:nvPr/>
        </p:nvSpPr>
        <p:spPr>
          <a:xfrm>
            <a:off x="6458985" y="2223247"/>
            <a:ext cx="1038157" cy="52151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1500" dirty="0"/>
              <a:t>After</a:t>
            </a:r>
            <a:endParaRPr lang="en-US" sz="1200" dirty="0"/>
          </a:p>
        </p:txBody>
      </p:sp>
    </p:spTree>
    <p:extLst>
      <p:ext uri="{BB962C8B-B14F-4D97-AF65-F5344CB8AC3E}">
        <p14:creationId xmlns:p14="http://schemas.microsoft.com/office/powerpoint/2010/main" val="38119841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457200"/>
            <a:ext cx="5256212" cy="1298448"/>
          </a:xfrm>
        </p:spPr>
        <p:txBody>
          <a:bodyPr>
            <a:normAutofit/>
          </a:bodyPr>
          <a:lstStyle/>
          <a:p>
            <a:r>
              <a:rPr lang="en-US" sz="2800" dirty="0"/>
              <a:t>Script (modifications)</a:t>
            </a:r>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8" y="2057400"/>
            <a:ext cx="8079487" cy="4150895"/>
          </a:xfrm>
        </p:spPr>
        <p:txBody>
          <a:bodyPr>
            <a:normAutofit fontScale="92500" lnSpcReduction="10000"/>
          </a:bodyPr>
          <a:lstStyle/>
          <a:p>
            <a:pPr marL="285750" indent="-285750" algn="just">
              <a:buFont typeface="Arial" panose="020B0604020202020204" pitchFamily="34" charset="0"/>
              <a:buChar char="•"/>
            </a:pPr>
            <a:r>
              <a:rPr lang="en-US" sz="2000" dirty="0"/>
              <a:t>Reduce solve time by applying a coarse mesh to the non-deforming quadrilateral and a fine mesh to the masking tape caused convergence Challenge. Variable mesh sizes caused the simulation to fail. Transition between coarse and fine regions cause severe element distortion, leading to numerical instability in the solver.</a:t>
            </a:r>
          </a:p>
          <a:p>
            <a:pPr marL="285750" indent="-285750" algn="just">
              <a:buFont typeface="Arial" panose="020B0604020202020204" pitchFamily="34" charset="0"/>
              <a:buChar char="•"/>
            </a:pPr>
            <a:r>
              <a:rPr lang="en-US" sz="2000" dirty="0"/>
              <a:t>Implemented a uniform global mesh across the entire geometry to maintain element quality and ensure solver stability.</a:t>
            </a:r>
          </a:p>
          <a:p>
            <a:pPr marL="285750" indent="-285750" algn="just">
              <a:buFont typeface="Arial" panose="020B0604020202020204" pitchFamily="34" charset="0"/>
              <a:buChar char="•"/>
            </a:pPr>
            <a:r>
              <a:rPr lang="en-US" sz="2000" b="1" dirty="0"/>
              <a:t>Trade-off: </a:t>
            </a:r>
            <a:r>
              <a:rPr lang="en-US" sz="2000" dirty="0"/>
              <a:t>While ensuring convergence, the uniform mesh significantly increased the simulation job time to approximately 10 hours.</a:t>
            </a:r>
          </a:p>
          <a:p>
            <a:pPr marL="285750" indent="-285750" algn="just">
              <a:buFont typeface="Arial" panose="020B0604020202020204" pitchFamily="34" charset="0"/>
              <a:buChar char="•"/>
            </a:pPr>
            <a:r>
              <a:rPr lang="en-US" sz="2000" dirty="0"/>
              <a:t>Final Validated Parameters: </a:t>
            </a:r>
          </a:p>
          <a:p>
            <a:pPr algn="ctr"/>
            <a:r>
              <a:rPr lang="en-US" sz="2000" dirty="0"/>
              <a:t>Global Mesh Size: 0.0005</a:t>
            </a:r>
          </a:p>
          <a:p>
            <a:pPr algn="ctr"/>
            <a:r>
              <a:rPr lang="en-US" sz="2000" dirty="0"/>
              <a:t>Surface Traction: 7300 </a:t>
            </a:r>
          </a:p>
          <a:p>
            <a:pPr algn="just"/>
            <a:r>
              <a:rPr lang="en-US" sz="2000" b="1" dirty="0"/>
              <a:t>Outcome: </a:t>
            </a:r>
            <a:r>
              <a:rPr lang="en-US" sz="2000" dirty="0"/>
              <a:t>The simulation ran successfully without aborting, generating a sufficient opening of the spiral to observe and analyze the curl.</a:t>
            </a:r>
          </a:p>
        </p:txBody>
      </p:sp>
      <p:pic>
        <p:nvPicPr>
          <p:cNvPr id="9" name="Picture 8">
            <a:extLst>
              <a:ext uri="{FF2B5EF4-FFF2-40B4-BE49-F238E27FC236}">
                <a16:creationId xmlns:a16="http://schemas.microsoft.com/office/drawing/2014/main" id="{D0C9B72E-E433-4E56-A1F6-B1B0D4EA9D3B}"/>
              </a:ext>
            </a:extLst>
          </p:cNvPr>
          <p:cNvPicPr>
            <a:picLocks noChangeAspect="1"/>
          </p:cNvPicPr>
          <p:nvPr/>
        </p:nvPicPr>
        <p:blipFill>
          <a:blip r:embed="rId2"/>
          <a:stretch>
            <a:fillRect/>
          </a:stretch>
        </p:blipFill>
        <p:spPr>
          <a:xfrm>
            <a:off x="9054992" y="2925305"/>
            <a:ext cx="2892689" cy="2072898"/>
          </a:xfrm>
          <a:prstGeom prst="rect">
            <a:avLst/>
          </a:prstGeom>
        </p:spPr>
      </p:pic>
    </p:spTree>
    <p:extLst>
      <p:ext uri="{BB962C8B-B14F-4D97-AF65-F5344CB8AC3E}">
        <p14:creationId xmlns:p14="http://schemas.microsoft.com/office/powerpoint/2010/main" val="10499652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457200"/>
            <a:ext cx="5256212" cy="1298448"/>
          </a:xfrm>
        </p:spPr>
        <p:txBody>
          <a:bodyPr>
            <a:normAutofit/>
          </a:bodyPr>
          <a:lstStyle/>
          <a:p>
            <a:r>
              <a:rPr lang="en-US" sz="2800" dirty="0"/>
              <a:t>Script CAE </a:t>
            </a:r>
            <a:r>
              <a:rPr lang="en-DE" sz="2800" dirty="0"/>
              <a:t>Visualization</a:t>
            </a:r>
            <a:endParaRPr lang="en-US" sz="2800" dirty="0"/>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8" y="2057399"/>
            <a:ext cx="9263436" cy="3821087"/>
          </a:xfrm>
        </p:spPr>
        <p:txBody>
          <a:bodyPr>
            <a:normAutofit/>
          </a:bodyPr>
          <a:lstStyle/>
          <a:p>
            <a:pPr marL="285750" indent="-285750" algn="just">
              <a:buFont typeface="Arial" panose="020B0604020202020204" pitchFamily="34" charset="0"/>
              <a:buChar char="•"/>
            </a:pPr>
            <a:endParaRPr lang="en-US" sz="1800" dirty="0">
              <a:latin typeface="Arial" panose="020B0604020202020204" pitchFamily="34" charset="0"/>
            </a:endParaRPr>
          </a:p>
        </p:txBody>
      </p:sp>
    </p:spTree>
    <p:extLst>
      <p:ext uri="{BB962C8B-B14F-4D97-AF65-F5344CB8AC3E}">
        <p14:creationId xmlns:p14="http://schemas.microsoft.com/office/powerpoint/2010/main" val="42499418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457200"/>
            <a:ext cx="5256212" cy="1298448"/>
          </a:xfrm>
        </p:spPr>
        <p:txBody>
          <a:bodyPr>
            <a:normAutofit/>
          </a:bodyPr>
          <a:lstStyle/>
          <a:p>
            <a:r>
              <a:rPr lang="en-US" sz="2800" dirty="0"/>
              <a:t>Spiral Fitting </a:t>
            </a:r>
            <a:r>
              <a:rPr lang="en-US" sz="2800" dirty="0" err="1"/>
              <a:t>py</a:t>
            </a:r>
            <a:r>
              <a:rPr lang="en-US" sz="2800" dirty="0"/>
              <a:t> code</a:t>
            </a:r>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6" y="2057399"/>
            <a:ext cx="6796255" cy="3974433"/>
          </a:xfrm>
        </p:spPr>
        <p:txBody>
          <a:bodyPr>
            <a:normAutofit/>
          </a:bodyPr>
          <a:lstStyle/>
          <a:p>
            <a:pPr algn="just"/>
            <a:r>
              <a:rPr lang="en-US" sz="2000" dirty="0"/>
              <a:t>Instead of a static image, a user interface directly into the graph window. It creates two dedicated rectangular areas at the bottom of the screen and places interactive sliders inside them:</a:t>
            </a:r>
            <a:endParaRPr lang="en-DE" sz="2000" dirty="0"/>
          </a:p>
          <a:p>
            <a:pPr marL="285750" lvl="0" indent="-285750" algn="just">
              <a:buFont typeface="Arial" panose="020B0604020202020204" pitchFamily="34" charset="0"/>
              <a:buChar char="•"/>
            </a:pPr>
            <a:r>
              <a:rPr lang="en-US" sz="2000" b="1" dirty="0"/>
              <a:t>Slider A: </a:t>
            </a:r>
            <a:r>
              <a:rPr lang="en-US" sz="2000" dirty="0"/>
              <a:t>Allows user to drag the value of a between -1.0 and 1.0.</a:t>
            </a:r>
            <a:endParaRPr lang="en-DE" sz="2000" dirty="0"/>
          </a:p>
          <a:p>
            <a:pPr marL="285750" lvl="0" indent="-285750" algn="just">
              <a:buFont typeface="Arial" panose="020B0604020202020204" pitchFamily="34" charset="0"/>
              <a:buChar char="•"/>
            </a:pPr>
            <a:r>
              <a:rPr lang="en-US" sz="2000" b="1" dirty="0"/>
              <a:t>Slider B: </a:t>
            </a:r>
            <a:r>
              <a:rPr lang="en-US" sz="2000" dirty="0"/>
              <a:t>Allows user to drag the value of b. The code intentionally restricts this range from 0 to 0.5 because higher values would cause the exp to plot a shape too large to display cleanly.</a:t>
            </a:r>
            <a:endParaRPr lang="en-DE" sz="2000" dirty="0"/>
          </a:p>
          <a:p>
            <a:pPr algn="just"/>
            <a:r>
              <a:rPr lang="en-US" sz="2000" dirty="0"/>
              <a:t>Dynamic way to visualize how manipulating the constants of an exponential function actively changes its physical geometry in real-time.</a:t>
            </a:r>
            <a:endParaRPr lang="en-DE" sz="2000" dirty="0"/>
          </a:p>
        </p:txBody>
      </p:sp>
      <p:pic>
        <p:nvPicPr>
          <p:cNvPr id="3" name="Picture 2">
            <a:extLst>
              <a:ext uri="{FF2B5EF4-FFF2-40B4-BE49-F238E27FC236}">
                <a16:creationId xmlns:a16="http://schemas.microsoft.com/office/drawing/2014/main" id="{0363F3F3-2487-4A43-A920-6E87CEE9C66B}"/>
              </a:ext>
            </a:extLst>
          </p:cNvPr>
          <p:cNvPicPr>
            <a:picLocks noChangeAspect="1"/>
          </p:cNvPicPr>
          <p:nvPr/>
        </p:nvPicPr>
        <p:blipFill rotWithShape="1">
          <a:blip r:embed="rId2"/>
          <a:srcRect t="4615" b="6981"/>
          <a:stretch/>
        </p:blipFill>
        <p:spPr>
          <a:xfrm>
            <a:off x="7716251" y="2042319"/>
            <a:ext cx="4295990" cy="3265531"/>
          </a:xfrm>
          <a:prstGeom prst="rect">
            <a:avLst/>
          </a:prstGeom>
        </p:spPr>
      </p:pic>
    </p:spTree>
    <p:extLst>
      <p:ext uri="{BB962C8B-B14F-4D97-AF65-F5344CB8AC3E}">
        <p14:creationId xmlns:p14="http://schemas.microsoft.com/office/powerpoint/2010/main" val="18950749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457200"/>
            <a:ext cx="5256212" cy="1298448"/>
          </a:xfrm>
        </p:spPr>
        <p:txBody>
          <a:bodyPr>
            <a:normAutofit/>
          </a:bodyPr>
          <a:lstStyle/>
          <a:p>
            <a:r>
              <a:rPr lang="en-US" sz="2800" dirty="0"/>
              <a:t>Plotting Spiral Deformation</a:t>
            </a:r>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7" y="2057399"/>
            <a:ext cx="6603750" cy="3974433"/>
          </a:xfrm>
        </p:spPr>
        <p:txBody>
          <a:bodyPr>
            <a:normAutofit/>
          </a:bodyPr>
          <a:lstStyle/>
          <a:p>
            <a:pPr algn="just"/>
            <a:r>
              <a:rPr lang="en-US" sz="2000" b="1" dirty="0"/>
              <a:t>Data Integration: </a:t>
            </a:r>
            <a:r>
              <a:rPr lang="en-US" sz="2000" dirty="0"/>
              <a:t>Exported 7-node displacement data from Abaqus and processed it via Python to visualize structural movement over time.</a:t>
            </a:r>
          </a:p>
          <a:p>
            <a:pPr algn="just"/>
            <a:r>
              <a:rPr lang="en-US" sz="2000" b="1" dirty="0"/>
              <a:t>Coordinate Correction: </a:t>
            </a:r>
            <a:r>
              <a:rPr lang="en-US" sz="2000" dirty="0"/>
              <a:t>Applied hardcoded initial positions (Time = 0) to relative displacement values to map nodes accurately into a global coordinate system.</a:t>
            </a:r>
          </a:p>
          <a:p>
            <a:pPr algn="just"/>
            <a:r>
              <a:rPr lang="en-US" sz="2000" b="1" dirty="0"/>
              <a:t>Static Overview: </a:t>
            </a:r>
            <a:r>
              <a:rPr lang="en-US" sz="2000" dirty="0"/>
              <a:t>Utilized a color-gradient plot to display the full motion path and bending progression in a single comprehensive view.</a:t>
            </a:r>
          </a:p>
          <a:p>
            <a:pPr algn="just"/>
            <a:r>
              <a:rPr lang="en-US" sz="2000" b="1" dirty="0"/>
              <a:t>Dynamic plot: </a:t>
            </a:r>
            <a:r>
              <a:rPr lang="en-US" sz="2000" dirty="0"/>
              <a:t>Developed an interactive slider tool to allow frame-by-frame inspection of the seven-point deformation at specific time steps.</a:t>
            </a:r>
            <a:endParaRPr lang="en-DE" sz="2000" dirty="0"/>
          </a:p>
        </p:txBody>
      </p:sp>
      <p:pic>
        <p:nvPicPr>
          <p:cNvPr id="5" name="Picture 4">
            <a:extLst>
              <a:ext uri="{FF2B5EF4-FFF2-40B4-BE49-F238E27FC236}">
                <a16:creationId xmlns:a16="http://schemas.microsoft.com/office/drawing/2014/main" id="{9CCE6767-787E-4C9D-AA8C-AE79190BBCB1}"/>
              </a:ext>
            </a:extLst>
          </p:cNvPr>
          <p:cNvPicPr>
            <a:picLocks noChangeAspect="1"/>
          </p:cNvPicPr>
          <p:nvPr/>
        </p:nvPicPr>
        <p:blipFill>
          <a:blip r:embed="rId2"/>
          <a:stretch>
            <a:fillRect/>
          </a:stretch>
        </p:blipFill>
        <p:spPr>
          <a:xfrm>
            <a:off x="8148461" y="279977"/>
            <a:ext cx="3751829" cy="3054894"/>
          </a:xfrm>
          <a:prstGeom prst="rect">
            <a:avLst/>
          </a:prstGeom>
        </p:spPr>
      </p:pic>
      <p:pic>
        <p:nvPicPr>
          <p:cNvPr id="6" name="Picture 5">
            <a:extLst>
              <a:ext uri="{FF2B5EF4-FFF2-40B4-BE49-F238E27FC236}">
                <a16:creationId xmlns:a16="http://schemas.microsoft.com/office/drawing/2014/main" id="{82E8DD70-5ACC-4001-AC2D-8AAC94817C3C}"/>
              </a:ext>
            </a:extLst>
          </p:cNvPr>
          <p:cNvPicPr>
            <a:picLocks noChangeAspect="1"/>
          </p:cNvPicPr>
          <p:nvPr/>
        </p:nvPicPr>
        <p:blipFill>
          <a:blip r:embed="rId3"/>
          <a:stretch>
            <a:fillRect/>
          </a:stretch>
        </p:blipFill>
        <p:spPr>
          <a:xfrm>
            <a:off x="7877365" y="3423100"/>
            <a:ext cx="4076713" cy="3267635"/>
          </a:xfrm>
          <a:prstGeom prst="rect">
            <a:avLst/>
          </a:prstGeom>
        </p:spPr>
      </p:pic>
    </p:spTree>
    <p:extLst>
      <p:ext uri="{BB962C8B-B14F-4D97-AF65-F5344CB8AC3E}">
        <p14:creationId xmlns:p14="http://schemas.microsoft.com/office/powerpoint/2010/main" val="3274451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9DF52-CEA6-1468-BC61-0CA98959E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45EB0-5248-784E-4DAB-BA632CF3ABB3}"/>
              </a:ext>
            </a:extLst>
          </p:cNvPr>
          <p:cNvSpPr>
            <a:spLocks noGrp="1"/>
          </p:cNvSpPr>
          <p:nvPr>
            <p:ph type="title"/>
          </p:nvPr>
        </p:nvSpPr>
        <p:spPr>
          <a:xfrm>
            <a:off x="839788" y="457200"/>
            <a:ext cx="5256212" cy="1298448"/>
          </a:xfrm>
        </p:spPr>
        <p:txBody>
          <a:bodyPr>
            <a:normAutofit/>
          </a:bodyPr>
          <a:lstStyle/>
          <a:p>
            <a:r>
              <a:rPr lang="en-US" sz="2800" dirty="0"/>
              <a:t>Mapping Spiral issue</a:t>
            </a:r>
          </a:p>
        </p:txBody>
      </p:sp>
      <p:sp>
        <p:nvSpPr>
          <p:cNvPr id="4" name="Text Placeholder 3">
            <a:extLst>
              <a:ext uri="{FF2B5EF4-FFF2-40B4-BE49-F238E27FC236}">
                <a16:creationId xmlns:a16="http://schemas.microsoft.com/office/drawing/2014/main" id="{F0AE9B00-7951-6BFD-150F-02DB6E8B47EB}"/>
              </a:ext>
            </a:extLst>
          </p:cNvPr>
          <p:cNvSpPr>
            <a:spLocks noGrp="1"/>
          </p:cNvSpPr>
          <p:nvPr>
            <p:ph type="body" sz="half" idx="2"/>
          </p:nvPr>
        </p:nvSpPr>
        <p:spPr>
          <a:xfrm>
            <a:off x="839786" y="2057399"/>
            <a:ext cx="6170616" cy="3974433"/>
          </a:xfrm>
        </p:spPr>
        <p:txBody>
          <a:bodyPr>
            <a:normAutofit/>
          </a:bodyPr>
          <a:lstStyle/>
          <a:p>
            <a:pPr marL="342900" indent="-342900" algn="just">
              <a:buFont typeface="Arial" panose="020B0604020202020204" pitchFamily="34" charset="0"/>
              <a:buChar char="•"/>
            </a:pPr>
            <a:r>
              <a:rPr lang="en-US" sz="2000" dirty="0"/>
              <a:t>This is an issue with unconstrained numerical optimization. The Nelder-Mead algorithm does not inherently understand the physical reality of the mechanism. It only looks for the lowest mathematical error based on the provided initial guesses.</a:t>
            </a:r>
          </a:p>
          <a:p>
            <a:pPr marL="342900" indent="-342900" algn="just">
              <a:buFont typeface="Arial" panose="020B0604020202020204" pitchFamily="34" charset="0"/>
              <a:buChar char="•"/>
            </a:pPr>
            <a:r>
              <a:rPr lang="en-US" sz="2000" dirty="0"/>
              <a:t> The solver gets trapped in a local minimum were flipping the parameters utilizing a negative growth rate (b = -0.185) and a negative angular domain (theta = -8.28$) yields a mathematically fit that satisfies the Q6 anchor and the Q1 tail constraint, but completely ignores the correct geometric path of the intermediate nodes.</a:t>
            </a:r>
          </a:p>
        </p:txBody>
      </p:sp>
      <p:pic>
        <p:nvPicPr>
          <p:cNvPr id="6" name="Picture 5">
            <a:extLst>
              <a:ext uri="{FF2B5EF4-FFF2-40B4-BE49-F238E27FC236}">
                <a16:creationId xmlns:a16="http://schemas.microsoft.com/office/drawing/2014/main" id="{6198D3C9-78C2-E8F8-C954-FE76F9B1494D}"/>
              </a:ext>
            </a:extLst>
          </p:cNvPr>
          <p:cNvPicPr>
            <a:picLocks noChangeAspect="1"/>
          </p:cNvPicPr>
          <p:nvPr/>
        </p:nvPicPr>
        <p:blipFill>
          <a:blip r:embed="rId2">
            <a:extLst>
              <a:ext uri="{28A0092B-C50C-407E-A947-70E740481C1C}">
                <a14:useLocalDpi xmlns:a14="http://schemas.microsoft.com/office/drawing/2010/main" val="0"/>
              </a:ext>
            </a:extLst>
          </a:blip>
          <a:srcRect l="1467" t="3448" r="2597"/>
          <a:stretch>
            <a:fillRect/>
          </a:stretch>
        </p:blipFill>
        <p:spPr>
          <a:xfrm>
            <a:off x="7010401" y="2151273"/>
            <a:ext cx="5038724" cy="3451933"/>
          </a:xfrm>
          <a:prstGeom prst="rect">
            <a:avLst/>
          </a:prstGeom>
        </p:spPr>
      </p:pic>
    </p:spTree>
    <p:extLst>
      <p:ext uri="{BB962C8B-B14F-4D97-AF65-F5344CB8AC3E}">
        <p14:creationId xmlns:p14="http://schemas.microsoft.com/office/powerpoint/2010/main" val="31262046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0FC5D-3A6F-6704-38E3-338E771137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395AF7-C3BA-38FB-1744-81D9168E6D36}"/>
              </a:ext>
            </a:extLst>
          </p:cNvPr>
          <p:cNvSpPr>
            <a:spLocks noGrp="1"/>
          </p:cNvSpPr>
          <p:nvPr>
            <p:ph type="title"/>
          </p:nvPr>
        </p:nvSpPr>
        <p:spPr>
          <a:xfrm>
            <a:off x="839788" y="628649"/>
            <a:ext cx="5256212" cy="812673"/>
          </a:xfrm>
        </p:spPr>
        <p:txBody>
          <a:bodyPr>
            <a:normAutofit/>
          </a:bodyPr>
          <a:lstStyle/>
          <a:p>
            <a:r>
              <a:rPr lang="en-US" sz="2800" dirty="0"/>
              <a:t>Mapping Spiral Deformation</a:t>
            </a:r>
          </a:p>
        </p:txBody>
      </p:sp>
      <p:sp>
        <p:nvSpPr>
          <p:cNvPr id="4" name="Text Placeholder 3">
            <a:extLst>
              <a:ext uri="{FF2B5EF4-FFF2-40B4-BE49-F238E27FC236}">
                <a16:creationId xmlns:a16="http://schemas.microsoft.com/office/drawing/2014/main" id="{25D4AEFE-C4F3-A18D-E5BA-91B654AB821F}"/>
              </a:ext>
            </a:extLst>
          </p:cNvPr>
          <p:cNvSpPr>
            <a:spLocks noGrp="1"/>
          </p:cNvSpPr>
          <p:nvPr>
            <p:ph type="body" sz="half" idx="2"/>
          </p:nvPr>
        </p:nvSpPr>
        <p:spPr>
          <a:xfrm>
            <a:off x="839787" y="2057399"/>
            <a:ext cx="9818688" cy="3974433"/>
          </a:xfrm>
        </p:spPr>
        <p:txBody>
          <a:bodyPr>
            <a:normAutofit/>
          </a:bodyPr>
          <a:lstStyle/>
          <a:p>
            <a:pPr marL="342900" indent="-342900" algn="just">
              <a:buFont typeface="Arial" panose="020B0604020202020204" pitchFamily="34" charset="0"/>
              <a:buChar char="•"/>
            </a:pPr>
            <a:r>
              <a:rPr lang="en-US" sz="2000" dirty="0"/>
              <a:t>For this analysis, the actuation angle is defined as the angle between the two largest quadrilaterals at the base of the structure, which drives the entire inward curling motion.</a:t>
            </a:r>
          </a:p>
          <a:p>
            <a:pPr marL="342900" indent="-342900" algn="just">
              <a:buFont typeface="Arial" panose="020B0604020202020204" pitchFamily="34" charset="0"/>
              <a:buChar char="•"/>
            </a:pPr>
            <a:r>
              <a:rPr lang="en-US" sz="2000" dirty="0"/>
              <a:t>In each of the plots below, the blue markers represent the discrete physical nodes of the mechanism extracted directly from the Abaqus simulation. The solid red line represents the continuous logarithmic spiral generated by our optimization script.</a:t>
            </a:r>
          </a:p>
          <a:p>
            <a:pPr marL="342900" indent="-342900" algn="just">
              <a:buFont typeface="Arial" panose="020B0604020202020204" pitchFamily="34" charset="0"/>
              <a:buChar char="•"/>
            </a:pPr>
            <a:r>
              <a:rPr lang="en-US" sz="2000" dirty="0"/>
              <a:t>We can visually verify how the mathematical model adapts to the physical bending. It shows the spiral tightening as the structural angle increases, and also clearly illustrates the specific point of failure at the maximum bending angle, where the numerical best-fit solver snaps to a mirrored, physically inaccurate curve.</a:t>
            </a:r>
          </a:p>
          <a:p>
            <a:pPr algn="just"/>
            <a:endParaRPr lang="en-DE" sz="2000" dirty="0"/>
          </a:p>
        </p:txBody>
      </p:sp>
    </p:spTree>
    <p:extLst>
      <p:ext uri="{BB962C8B-B14F-4D97-AF65-F5344CB8AC3E}">
        <p14:creationId xmlns:p14="http://schemas.microsoft.com/office/powerpoint/2010/main" val="21798705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C496-AD8D-1322-F224-D56544471F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935E57-5189-5C44-A44B-38D905161931}"/>
              </a:ext>
            </a:extLst>
          </p:cNvPr>
          <p:cNvSpPr>
            <a:spLocks noGrp="1"/>
          </p:cNvSpPr>
          <p:nvPr>
            <p:ph type="title"/>
          </p:nvPr>
        </p:nvSpPr>
        <p:spPr>
          <a:xfrm>
            <a:off x="839788" y="843736"/>
            <a:ext cx="5256212" cy="612648"/>
          </a:xfrm>
        </p:spPr>
        <p:txBody>
          <a:bodyPr>
            <a:normAutofit/>
          </a:bodyPr>
          <a:lstStyle/>
          <a:p>
            <a:r>
              <a:rPr lang="en-US" sz="2800" dirty="0"/>
              <a:t>Mapping Spiral Deformation plot</a:t>
            </a:r>
          </a:p>
        </p:txBody>
      </p:sp>
      <p:sp>
        <p:nvSpPr>
          <p:cNvPr id="4" name="Text Placeholder 3">
            <a:extLst>
              <a:ext uri="{FF2B5EF4-FFF2-40B4-BE49-F238E27FC236}">
                <a16:creationId xmlns:a16="http://schemas.microsoft.com/office/drawing/2014/main" id="{2F8982FA-EB43-77BB-EC50-2109F9C04990}"/>
              </a:ext>
            </a:extLst>
          </p:cNvPr>
          <p:cNvSpPr>
            <a:spLocks noGrp="1"/>
          </p:cNvSpPr>
          <p:nvPr>
            <p:ph type="body" sz="half" idx="2"/>
          </p:nvPr>
        </p:nvSpPr>
        <p:spPr>
          <a:xfrm>
            <a:off x="839786" y="2057399"/>
            <a:ext cx="10463753" cy="3974433"/>
          </a:xfrm>
        </p:spPr>
        <p:txBody>
          <a:bodyPr>
            <a:normAutofit/>
          </a:bodyPr>
          <a:lstStyle/>
          <a:p>
            <a:pPr algn="just"/>
            <a:endParaRPr lang="en-DE" sz="2000" dirty="0"/>
          </a:p>
        </p:txBody>
      </p:sp>
      <p:pic>
        <p:nvPicPr>
          <p:cNvPr id="11" name="Picture 10">
            <a:extLst>
              <a:ext uri="{FF2B5EF4-FFF2-40B4-BE49-F238E27FC236}">
                <a16:creationId xmlns:a16="http://schemas.microsoft.com/office/drawing/2014/main" id="{583C79A6-9784-19B1-89D2-6FA9B9AC8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592" y="1558095"/>
            <a:ext cx="3867632" cy="2733127"/>
          </a:xfrm>
          <a:prstGeom prst="rect">
            <a:avLst/>
          </a:prstGeom>
        </p:spPr>
      </p:pic>
      <p:pic>
        <p:nvPicPr>
          <p:cNvPr id="13" name="Picture 12">
            <a:extLst>
              <a:ext uri="{FF2B5EF4-FFF2-40B4-BE49-F238E27FC236}">
                <a16:creationId xmlns:a16="http://schemas.microsoft.com/office/drawing/2014/main" id="{DB2ED794-4A1C-A031-0A86-5EEABDB9D8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7372" y="1656722"/>
            <a:ext cx="3777256" cy="2614048"/>
          </a:xfrm>
          <a:prstGeom prst="rect">
            <a:avLst/>
          </a:prstGeom>
        </p:spPr>
      </p:pic>
      <p:pic>
        <p:nvPicPr>
          <p:cNvPr id="15" name="Picture 14">
            <a:extLst>
              <a:ext uri="{FF2B5EF4-FFF2-40B4-BE49-F238E27FC236}">
                <a16:creationId xmlns:a16="http://schemas.microsoft.com/office/drawing/2014/main" id="{70C499CA-A25F-CE87-A42E-B0DECFB0F79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76819" y="1775295"/>
            <a:ext cx="3523114" cy="2472151"/>
          </a:xfrm>
          <a:prstGeom prst="rect">
            <a:avLst/>
          </a:prstGeom>
        </p:spPr>
      </p:pic>
      <p:pic>
        <p:nvPicPr>
          <p:cNvPr id="17" name="Picture 16">
            <a:extLst>
              <a:ext uri="{FF2B5EF4-FFF2-40B4-BE49-F238E27FC236}">
                <a16:creationId xmlns:a16="http://schemas.microsoft.com/office/drawing/2014/main" id="{67148600-327C-6D6E-403C-8268F76DC41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697" y="4291222"/>
            <a:ext cx="3644339" cy="2481679"/>
          </a:xfrm>
          <a:prstGeom prst="rect">
            <a:avLst/>
          </a:prstGeom>
        </p:spPr>
      </p:pic>
      <p:pic>
        <p:nvPicPr>
          <p:cNvPr id="19" name="Picture 18">
            <a:extLst>
              <a:ext uri="{FF2B5EF4-FFF2-40B4-BE49-F238E27FC236}">
                <a16:creationId xmlns:a16="http://schemas.microsoft.com/office/drawing/2014/main" id="{E533D4F4-1809-BAB3-B553-455A0B33A80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72470" y="4303131"/>
            <a:ext cx="3599296" cy="2457862"/>
          </a:xfrm>
          <a:prstGeom prst="rect">
            <a:avLst/>
          </a:prstGeom>
        </p:spPr>
      </p:pic>
      <p:pic>
        <p:nvPicPr>
          <p:cNvPr id="21" name="Picture 20">
            <a:extLst>
              <a:ext uri="{FF2B5EF4-FFF2-40B4-BE49-F238E27FC236}">
                <a16:creationId xmlns:a16="http://schemas.microsoft.com/office/drawing/2014/main" id="{8496C4BE-7981-E3D4-CA59-67F73E6203C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771766" y="4276724"/>
            <a:ext cx="3627036" cy="2524545"/>
          </a:xfrm>
          <a:prstGeom prst="rect">
            <a:avLst/>
          </a:prstGeom>
        </p:spPr>
      </p:pic>
    </p:spTree>
    <p:extLst>
      <p:ext uri="{BB962C8B-B14F-4D97-AF65-F5344CB8AC3E}">
        <p14:creationId xmlns:p14="http://schemas.microsoft.com/office/powerpoint/2010/main" val="34348757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D4F85-AD12-C12C-1CE2-31CB4439782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9D69CE8-A63D-3EA0-DA5F-191ED8DC8B51}"/>
              </a:ext>
            </a:extLst>
          </p:cNvPr>
          <p:cNvPicPr>
            <a:picLocks noChangeAspect="1"/>
          </p:cNvPicPr>
          <p:nvPr/>
        </p:nvPicPr>
        <p:blipFill>
          <a:blip r:embed="rId2">
            <a:alphaModFix amt="5000"/>
            <a:extLst>
              <a:ext uri="{28A0092B-C50C-407E-A947-70E740481C1C}">
                <a14:useLocalDpi xmlns:a14="http://schemas.microsoft.com/office/drawing/2010/main" val="0"/>
              </a:ext>
            </a:extLst>
          </a:blip>
          <a:srcRect/>
          <a:stretch>
            <a:fillRect/>
          </a:stretch>
        </p:blipFill>
        <p:spPr bwMode="auto">
          <a:xfrm>
            <a:off x="2745631" y="78631"/>
            <a:ext cx="6700737" cy="6700737"/>
          </a:xfrm>
          <a:prstGeom prst="rect">
            <a:avLst/>
          </a:prstGeom>
        </p:spPr>
      </p:pic>
      <p:sp>
        <p:nvSpPr>
          <p:cNvPr id="2" name="Title 1">
            <a:extLst>
              <a:ext uri="{FF2B5EF4-FFF2-40B4-BE49-F238E27FC236}">
                <a16:creationId xmlns:a16="http://schemas.microsoft.com/office/drawing/2014/main" id="{52EE0265-F034-22B4-0B84-D436B37992FE}"/>
              </a:ext>
            </a:extLst>
          </p:cNvPr>
          <p:cNvSpPr>
            <a:spLocks noGrp="1"/>
          </p:cNvSpPr>
          <p:nvPr>
            <p:ph type="ctrTitle"/>
          </p:nvPr>
        </p:nvSpPr>
        <p:spPr>
          <a:xfrm>
            <a:off x="1524000" y="1466177"/>
            <a:ext cx="9144000" cy="2387600"/>
          </a:xfrm>
        </p:spPr>
        <p:txBody>
          <a:bodyPr>
            <a:normAutofit/>
          </a:bodyPr>
          <a:lstStyle/>
          <a:p>
            <a:r>
              <a:rPr lang="en-US" sz="8800" b="1" dirty="0">
                <a:latin typeface="Palace Script MT" panose="030303020206070C0B05" pitchFamily="66" charset="0"/>
              </a:rPr>
              <a:t>Fin</a:t>
            </a:r>
          </a:p>
        </p:txBody>
      </p:sp>
      <p:sp>
        <p:nvSpPr>
          <p:cNvPr id="4" name="Subtitle 2">
            <a:extLst>
              <a:ext uri="{FF2B5EF4-FFF2-40B4-BE49-F238E27FC236}">
                <a16:creationId xmlns:a16="http://schemas.microsoft.com/office/drawing/2014/main" id="{578D31C9-6A1C-C36A-35A9-233056D3E927}"/>
              </a:ext>
            </a:extLst>
          </p:cNvPr>
          <p:cNvSpPr txBox="1">
            <a:spLocks/>
          </p:cNvSpPr>
          <p:nvPr/>
        </p:nvSpPr>
        <p:spPr>
          <a:xfrm>
            <a:off x="9272603" y="6566175"/>
            <a:ext cx="3749505" cy="42578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600" dirty="0"/>
              <a:t>Project folder on </a:t>
            </a:r>
            <a:r>
              <a:rPr lang="en-US" sz="1600" dirty="0">
                <a:hlinkClick r:id="rId3"/>
              </a:rPr>
              <a:t>Github</a:t>
            </a:r>
            <a:r>
              <a:rPr lang="en-US" sz="1600" dirty="0"/>
              <a:t>  </a:t>
            </a:r>
          </a:p>
        </p:txBody>
      </p:sp>
      <p:sp>
        <p:nvSpPr>
          <p:cNvPr id="8" name="Subtitle 2">
            <a:extLst>
              <a:ext uri="{FF2B5EF4-FFF2-40B4-BE49-F238E27FC236}">
                <a16:creationId xmlns:a16="http://schemas.microsoft.com/office/drawing/2014/main" id="{F00CABBF-C548-BFF6-0362-EB4910E8211A}"/>
              </a:ext>
            </a:extLst>
          </p:cNvPr>
          <p:cNvSpPr>
            <a:spLocks noGrp="1"/>
          </p:cNvSpPr>
          <p:nvPr>
            <p:ph type="subTitle" idx="1"/>
          </p:nvPr>
        </p:nvSpPr>
        <p:spPr>
          <a:xfrm>
            <a:off x="1524000" y="3853777"/>
            <a:ext cx="9144000" cy="1655762"/>
          </a:xfrm>
        </p:spPr>
        <p:txBody>
          <a:bodyPr/>
          <a:lstStyle/>
          <a:p>
            <a:r>
              <a:rPr lang="en-US" dirty="0"/>
              <a:t>Curling Spiral Simulation Study</a:t>
            </a:r>
          </a:p>
        </p:txBody>
      </p:sp>
      <p:grpSp>
        <p:nvGrpSpPr>
          <p:cNvPr id="36" name="Group 35">
            <a:extLst>
              <a:ext uri="{FF2B5EF4-FFF2-40B4-BE49-F238E27FC236}">
                <a16:creationId xmlns:a16="http://schemas.microsoft.com/office/drawing/2014/main" id="{58BA0D7E-D17A-8AC1-759A-9D0D03ABF1E9}"/>
              </a:ext>
            </a:extLst>
          </p:cNvPr>
          <p:cNvGrpSpPr/>
          <p:nvPr/>
        </p:nvGrpSpPr>
        <p:grpSpPr>
          <a:xfrm>
            <a:off x="9683048" y="6241377"/>
            <a:ext cx="552665" cy="424440"/>
            <a:chOff x="10721735" y="5924975"/>
            <a:chExt cx="552665" cy="424440"/>
          </a:xfrm>
        </p:grpSpPr>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C8D01E61-8542-51F0-8411-CE9B6F2FCAC4}"/>
                    </a:ext>
                  </a:extLst>
                </p14:cNvPr>
                <p14:cNvContentPartPr/>
                <p14:nvPr/>
              </p14:nvContentPartPr>
              <p14:xfrm>
                <a:off x="10721735" y="5924975"/>
                <a:ext cx="193320" cy="395280"/>
              </p14:xfrm>
            </p:contentPart>
          </mc:Choice>
          <mc:Fallback xmlns="">
            <p:pic>
              <p:nvPicPr>
                <p:cNvPr id="22" name="Ink 21">
                  <a:extLst>
                    <a:ext uri="{FF2B5EF4-FFF2-40B4-BE49-F238E27FC236}">
                      <a16:creationId xmlns:a16="http://schemas.microsoft.com/office/drawing/2014/main" id="{C8D01E61-8542-51F0-8411-CE9B6F2FCAC4}"/>
                    </a:ext>
                  </a:extLst>
                </p:cNvPr>
                <p:cNvPicPr/>
                <p:nvPr/>
              </p:nvPicPr>
              <p:blipFill>
                <a:blip r:embed="rId5"/>
                <a:stretch>
                  <a:fillRect/>
                </a:stretch>
              </p:blipFill>
              <p:spPr>
                <a:xfrm>
                  <a:off x="10715615" y="5918855"/>
                  <a:ext cx="205560" cy="4075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40E42B34-35EF-DB78-8D90-3EA79FAA2EF1}"/>
                    </a:ext>
                  </a:extLst>
                </p14:cNvPr>
                <p14:cNvContentPartPr/>
                <p14:nvPr/>
              </p14:nvContentPartPr>
              <p14:xfrm>
                <a:off x="10729295" y="6070415"/>
                <a:ext cx="297720" cy="221400"/>
              </p14:xfrm>
            </p:contentPart>
          </mc:Choice>
          <mc:Fallback xmlns="">
            <p:pic>
              <p:nvPicPr>
                <p:cNvPr id="23" name="Ink 22">
                  <a:extLst>
                    <a:ext uri="{FF2B5EF4-FFF2-40B4-BE49-F238E27FC236}">
                      <a16:creationId xmlns:a16="http://schemas.microsoft.com/office/drawing/2014/main" id="{40E42B34-35EF-DB78-8D90-3EA79FAA2EF1}"/>
                    </a:ext>
                  </a:extLst>
                </p:cNvPr>
                <p:cNvPicPr/>
                <p:nvPr/>
              </p:nvPicPr>
              <p:blipFill>
                <a:blip r:embed="rId7"/>
                <a:stretch>
                  <a:fillRect/>
                </a:stretch>
              </p:blipFill>
              <p:spPr>
                <a:xfrm>
                  <a:off x="10723175" y="6064295"/>
                  <a:ext cx="30996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398AA4CE-25B0-7288-C188-B68FADCFD653}"/>
                    </a:ext>
                  </a:extLst>
                </p14:cNvPr>
                <p14:cNvContentPartPr/>
                <p14:nvPr/>
              </p14:nvContentPartPr>
              <p14:xfrm>
                <a:off x="10923335" y="6214775"/>
                <a:ext cx="43200" cy="74880"/>
              </p14:xfrm>
            </p:contentPart>
          </mc:Choice>
          <mc:Fallback xmlns="">
            <p:pic>
              <p:nvPicPr>
                <p:cNvPr id="24" name="Ink 23">
                  <a:extLst>
                    <a:ext uri="{FF2B5EF4-FFF2-40B4-BE49-F238E27FC236}">
                      <a16:creationId xmlns:a16="http://schemas.microsoft.com/office/drawing/2014/main" id="{398AA4CE-25B0-7288-C188-B68FADCFD653}"/>
                    </a:ext>
                  </a:extLst>
                </p:cNvPr>
                <p:cNvPicPr/>
                <p:nvPr/>
              </p:nvPicPr>
              <p:blipFill>
                <a:blip r:embed="rId9"/>
                <a:stretch>
                  <a:fillRect/>
                </a:stretch>
              </p:blipFill>
              <p:spPr>
                <a:xfrm>
                  <a:off x="10917215" y="6208655"/>
                  <a:ext cx="5544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6" name="Ink 25">
                  <a:extLst>
                    <a:ext uri="{FF2B5EF4-FFF2-40B4-BE49-F238E27FC236}">
                      <a16:creationId xmlns:a16="http://schemas.microsoft.com/office/drawing/2014/main" id="{5C386B9A-0198-1378-46F2-814C0A572E01}"/>
                    </a:ext>
                  </a:extLst>
                </p14:cNvPr>
                <p14:cNvContentPartPr/>
                <p14:nvPr/>
              </p14:nvContentPartPr>
              <p14:xfrm>
                <a:off x="10967975" y="6210095"/>
                <a:ext cx="23040" cy="58680"/>
              </p14:xfrm>
            </p:contentPart>
          </mc:Choice>
          <mc:Fallback xmlns="">
            <p:pic>
              <p:nvPicPr>
                <p:cNvPr id="26" name="Ink 25">
                  <a:extLst>
                    <a:ext uri="{FF2B5EF4-FFF2-40B4-BE49-F238E27FC236}">
                      <a16:creationId xmlns:a16="http://schemas.microsoft.com/office/drawing/2014/main" id="{5C386B9A-0198-1378-46F2-814C0A572E01}"/>
                    </a:ext>
                  </a:extLst>
                </p:cNvPr>
                <p:cNvPicPr/>
                <p:nvPr/>
              </p:nvPicPr>
              <p:blipFill>
                <a:blip r:embed="rId11"/>
                <a:stretch>
                  <a:fillRect/>
                </a:stretch>
              </p:blipFill>
              <p:spPr>
                <a:xfrm>
                  <a:off x="10961855" y="6203975"/>
                  <a:ext cx="35280" cy="7092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0EE427A5-5875-12BC-D5AB-8856E92440B4}"/>
                    </a:ext>
                  </a:extLst>
                </p14:cNvPr>
                <p14:cNvContentPartPr/>
                <p14:nvPr/>
              </p14:nvContentPartPr>
              <p14:xfrm>
                <a:off x="10969775" y="6193535"/>
                <a:ext cx="17280" cy="27000"/>
              </p14:xfrm>
            </p:contentPart>
          </mc:Choice>
          <mc:Fallback xmlns="">
            <p:pic>
              <p:nvPicPr>
                <p:cNvPr id="27" name="Ink 26">
                  <a:extLst>
                    <a:ext uri="{FF2B5EF4-FFF2-40B4-BE49-F238E27FC236}">
                      <a16:creationId xmlns:a16="http://schemas.microsoft.com/office/drawing/2014/main" id="{0EE427A5-5875-12BC-D5AB-8856E92440B4}"/>
                    </a:ext>
                  </a:extLst>
                </p:cNvPr>
                <p:cNvPicPr/>
                <p:nvPr/>
              </p:nvPicPr>
              <p:blipFill>
                <a:blip r:embed="rId13"/>
                <a:stretch>
                  <a:fillRect/>
                </a:stretch>
              </p:blipFill>
              <p:spPr>
                <a:xfrm>
                  <a:off x="10963655" y="6187415"/>
                  <a:ext cx="29520" cy="3924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D4C9819C-8C6C-C5CA-CA2B-94803F883593}"/>
                    </a:ext>
                  </a:extLst>
                </p14:cNvPr>
                <p14:cNvContentPartPr/>
                <p14:nvPr/>
              </p14:nvContentPartPr>
              <p14:xfrm>
                <a:off x="10987775" y="6103175"/>
                <a:ext cx="65160" cy="246240"/>
              </p14:xfrm>
            </p:contentPart>
          </mc:Choice>
          <mc:Fallback xmlns="">
            <p:pic>
              <p:nvPicPr>
                <p:cNvPr id="28" name="Ink 27">
                  <a:extLst>
                    <a:ext uri="{FF2B5EF4-FFF2-40B4-BE49-F238E27FC236}">
                      <a16:creationId xmlns:a16="http://schemas.microsoft.com/office/drawing/2014/main" id="{D4C9819C-8C6C-C5CA-CA2B-94803F883593}"/>
                    </a:ext>
                  </a:extLst>
                </p:cNvPr>
                <p:cNvPicPr/>
                <p:nvPr/>
              </p:nvPicPr>
              <p:blipFill>
                <a:blip r:embed="rId15"/>
                <a:stretch>
                  <a:fillRect/>
                </a:stretch>
              </p:blipFill>
              <p:spPr>
                <a:xfrm>
                  <a:off x="10981655" y="6097055"/>
                  <a:ext cx="774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30" name="Ink 29">
                  <a:extLst>
                    <a:ext uri="{FF2B5EF4-FFF2-40B4-BE49-F238E27FC236}">
                      <a16:creationId xmlns:a16="http://schemas.microsoft.com/office/drawing/2014/main" id="{82F13307-EFE6-5267-D8A7-79886891573A}"/>
                    </a:ext>
                  </a:extLst>
                </p14:cNvPr>
                <p14:cNvContentPartPr/>
                <p14:nvPr/>
              </p14:nvContentPartPr>
              <p14:xfrm>
                <a:off x="11036440" y="6180630"/>
                <a:ext cx="27000" cy="55800"/>
              </p14:xfrm>
            </p:contentPart>
          </mc:Choice>
          <mc:Fallback xmlns="">
            <p:pic>
              <p:nvPicPr>
                <p:cNvPr id="30" name="Ink 29">
                  <a:extLst>
                    <a:ext uri="{FF2B5EF4-FFF2-40B4-BE49-F238E27FC236}">
                      <a16:creationId xmlns:a16="http://schemas.microsoft.com/office/drawing/2014/main" id="{82F13307-EFE6-5267-D8A7-79886891573A}"/>
                    </a:ext>
                  </a:extLst>
                </p:cNvPr>
                <p:cNvPicPr/>
                <p:nvPr/>
              </p:nvPicPr>
              <p:blipFill>
                <a:blip r:embed="rId17"/>
                <a:stretch>
                  <a:fillRect/>
                </a:stretch>
              </p:blipFill>
              <p:spPr>
                <a:xfrm>
                  <a:off x="11030320" y="6174510"/>
                  <a:ext cx="3924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1" name="Ink 30">
                  <a:extLst>
                    <a:ext uri="{FF2B5EF4-FFF2-40B4-BE49-F238E27FC236}">
                      <a16:creationId xmlns:a16="http://schemas.microsoft.com/office/drawing/2014/main" id="{1B301D1F-42FD-B555-54E3-FB9DE58437F8}"/>
                    </a:ext>
                  </a:extLst>
                </p14:cNvPr>
                <p14:cNvContentPartPr/>
                <p14:nvPr/>
              </p14:nvContentPartPr>
              <p14:xfrm>
                <a:off x="11065600" y="6167310"/>
                <a:ext cx="48960" cy="74160"/>
              </p14:xfrm>
            </p:contentPart>
          </mc:Choice>
          <mc:Fallback xmlns="">
            <p:pic>
              <p:nvPicPr>
                <p:cNvPr id="31" name="Ink 30">
                  <a:extLst>
                    <a:ext uri="{FF2B5EF4-FFF2-40B4-BE49-F238E27FC236}">
                      <a16:creationId xmlns:a16="http://schemas.microsoft.com/office/drawing/2014/main" id="{1B301D1F-42FD-B555-54E3-FB9DE58437F8}"/>
                    </a:ext>
                  </a:extLst>
                </p:cNvPr>
                <p:cNvPicPr/>
                <p:nvPr/>
              </p:nvPicPr>
              <p:blipFill>
                <a:blip r:embed="rId19"/>
                <a:stretch>
                  <a:fillRect/>
                </a:stretch>
              </p:blipFill>
              <p:spPr>
                <a:xfrm>
                  <a:off x="11059480" y="6161190"/>
                  <a:ext cx="6120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2" name="Ink 31">
                  <a:extLst>
                    <a:ext uri="{FF2B5EF4-FFF2-40B4-BE49-F238E27FC236}">
                      <a16:creationId xmlns:a16="http://schemas.microsoft.com/office/drawing/2014/main" id="{4EA18E1F-DFBC-2E62-9246-609E7236D1F0}"/>
                    </a:ext>
                  </a:extLst>
                </p14:cNvPr>
                <p14:cNvContentPartPr/>
                <p14:nvPr/>
              </p14:nvContentPartPr>
              <p14:xfrm>
                <a:off x="11088280" y="6087030"/>
                <a:ext cx="65520" cy="203400"/>
              </p14:xfrm>
            </p:contentPart>
          </mc:Choice>
          <mc:Fallback xmlns="">
            <p:pic>
              <p:nvPicPr>
                <p:cNvPr id="32" name="Ink 31">
                  <a:extLst>
                    <a:ext uri="{FF2B5EF4-FFF2-40B4-BE49-F238E27FC236}">
                      <a16:creationId xmlns:a16="http://schemas.microsoft.com/office/drawing/2014/main" id="{4EA18E1F-DFBC-2E62-9246-609E7236D1F0}"/>
                    </a:ext>
                  </a:extLst>
                </p:cNvPr>
                <p:cNvPicPr/>
                <p:nvPr/>
              </p:nvPicPr>
              <p:blipFill>
                <a:blip r:embed="rId21"/>
                <a:stretch>
                  <a:fillRect/>
                </a:stretch>
              </p:blipFill>
              <p:spPr>
                <a:xfrm>
                  <a:off x="11082160" y="6080910"/>
                  <a:ext cx="77760" cy="2156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3" name="Ink 32">
                  <a:extLst>
                    <a:ext uri="{FF2B5EF4-FFF2-40B4-BE49-F238E27FC236}">
                      <a16:creationId xmlns:a16="http://schemas.microsoft.com/office/drawing/2014/main" id="{3C343859-13E8-0353-64B0-AA0F22035696}"/>
                    </a:ext>
                  </a:extLst>
                </p14:cNvPr>
                <p14:cNvContentPartPr/>
                <p14:nvPr/>
              </p14:nvContentPartPr>
              <p14:xfrm>
                <a:off x="11134720" y="6144990"/>
                <a:ext cx="59760" cy="66240"/>
              </p14:xfrm>
            </p:contentPart>
          </mc:Choice>
          <mc:Fallback xmlns="">
            <p:pic>
              <p:nvPicPr>
                <p:cNvPr id="33" name="Ink 32">
                  <a:extLst>
                    <a:ext uri="{FF2B5EF4-FFF2-40B4-BE49-F238E27FC236}">
                      <a16:creationId xmlns:a16="http://schemas.microsoft.com/office/drawing/2014/main" id="{3C343859-13E8-0353-64B0-AA0F22035696}"/>
                    </a:ext>
                  </a:extLst>
                </p:cNvPr>
                <p:cNvPicPr/>
                <p:nvPr/>
              </p:nvPicPr>
              <p:blipFill>
                <a:blip r:embed="rId23"/>
                <a:stretch>
                  <a:fillRect/>
                </a:stretch>
              </p:blipFill>
              <p:spPr>
                <a:xfrm>
                  <a:off x="11128600" y="6138870"/>
                  <a:ext cx="72000" cy="78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4" name="Ink 33">
                  <a:extLst>
                    <a:ext uri="{FF2B5EF4-FFF2-40B4-BE49-F238E27FC236}">
                      <a16:creationId xmlns:a16="http://schemas.microsoft.com/office/drawing/2014/main" id="{D620E3F3-4161-AB94-B335-2CBA2610F023}"/>
                    </a:ext>
                  </a:extLst>
                </p14:cNvPr>
                <p14:cNvContentPartPr/>
                <p14:nvPr/>
              </p14:nvContentPartPr>
              <p14:xfrm>
                <a:off x="11194480" y="6122310"/>
                <a:ext cx="44280" cy="61920"/>
              </p14:xfrm>
            </p:contentPart>
          </mc:Choice>
          <mc:Fallback xmlns="">
            <p:pic>
              <p:nvPicPr>
                <p:cNvPr id="34" name="Ink 33">
                  <a:extLst>
                    <a:ext uri="{FF2B5EF4-FFF2-40B4-BE49-F238E27FC236}">
                      <a16:creationId xmlns:a16="http://schemas.microsoft.com/office/drawing/2014/main" id="{D620E3F3-4161-AB94-B335-2CBA2610F023}"/>
                    </a:ext>
                  </a:extLst>
                </p:cNvPr>
                <p:cNvPicPr/>
                <p:nvPr/>
              </p:nvPicPr>
              <p:blipFill>
                <a:blip r:embed="rId25"/>
                <a:stretch>
                  <a:fillRect/>
                </a:stretch>
              </p:blipFill>
              <p:spPr>
                <a:xfrm>
                  <a:off x="11188360" y="6116190"/>
                  <a:ext cx="56520" cy="741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5" name="Ink 34">
                  <a:extLst>
                    <a:ext uri="{FF2B5EF4-FFF2-40B4-BE49-F238E27FC236}">
                      <a16:creationId xmlns:a16="http://schemas.microsoft.com/office/drawing/2014/main" id="{A89A4DF3-02C8-6711-3663-76DA95AA61D6}"/>
                    </a:ext>
                  </a:extLst>
                </p14:cNvPr>
                <p14:cNvContentPartPr/>
                <p14:nvPr/>
              </p14:nvContentPartPr>
              <p14:xfrm>
                <a:off x="11238040" y="6093510"/>
                <a:ext cx="36360" cy="82080"/>
              </p14:xfrm>
            </p:contentPart>
          </mc:Choice>
          <mc:Fallback xmlns="">
            <p:pic>
              <p:nvPicPr>
                <p:cNvPr id="35" name="Ink 34">
                  <a:extLst>
                    <a:ext uri="{FF2B5EF4-FFF2-40B4-BE49-F238E27FC236}">
                      <a16:creationId xmlns:a16="http://schemas.microsoft.com/office/drawing/2014/main" id="{A89A4DF3-02C8-6711-3663-76DA95AA61D6}"/>
                    </a:ext>
                  </a:extLst>
                </p:cNvPr>
                <p:cNvPicPr/>
                <p:nvPr/>
              </p:nvPicPr>
              <p:blipFill>
                <a:blip r:embed="rId27"/>
                <a:stretch>
                  <a:fillRect/>
                </a:stretch>
              </p:blipFill>
              <p:spPr>
                <a:xfrm>
                  <a:off x="11231920" y="6087390"/>
                  <a:ext cx="48600" cy="94320"/>
                </a:xfrm>
                <a:prstGeom prst="rect">
                  <a:avLst/>
                </a:prstGeom>
              </p:spPr>
            </p:pic>
          </mc:Fallback>
        </mc:AlternateContent>
      </p:grpSp>
    </p:spTree>
    <p:extLst>
      <p:ext uri="{BB962C8B-B14F-4D97-AF65-F5344CB8AC3E}">
        <p14:creationId xmlns:p14="http://schemas.microsoft.com/office/powerpoint/2010/main" val="3734267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TotalTime>
  <Words>2226</Words>
  <Application>Microsoft Office PowerPoint</Application>
  <PresentationFormat>Widescreen</PresentationFormat>
  <Paragraphs>151</Paragraphs>
  <Slides>33</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0" baseType="lpstr">
      <vt:lpstr>Arial</vt:lpstr>
      <vt:lpstr>Calibri</vt:lpstr>
      <vt:lpstr>Calibri Light</vt:lpstr>
      <vt:lpstr>Cambria Math</vt:lpstr>
      <vt:lpstr>Palace Script MT</vt:lpstr>
      <vt:lpstr>Office Theme</vt:lpstr>
      <vt:lpstr>Acrobat Document</vt:lpstr>
      <vt:lpstr>Curling Spiral (Outer Spine)</vt:lpstr>
      <vt:lpstr>Week 1</vt:lpstr>
      <vt:lpstr> Geometric Definition &amp; Parametric Requirements</vt:lpstr>
      <vt:lpstr>Design Logic (Focus on parameters)</vt:lpstr>
      <vt:lpstr>Design assembly</vt:lpstr>
      <vt:lpstr>SpiRobs: Logarithmic spiral-shaped robots</vt:lpstr>
      <vt:lpstr>Skill Acquisition</vt:lpstr>
      <vt:lpstr>Week 2</vt:lpstr>
      <vt:lpstr>Geometry &amp; Boundary condition</vt:lpstr>
      <vt:lpstr>Geometry &amp; Boundary condition</vt:lpstr>
      <vt:lpstr>Material Properties</vt:lpstr>
      <vt:lpstr>Meshing</vt:lpstr>
      <vt:lpstr>Result Visualization</vt:lpstr>
      <vt:lpstr>Result Visualization</vt:lpstr>
      <vt:lpstr>Week 3</vt:lpstr>
      <vt:lpstr>Translation and Rotation (2D)</vt:lpstr>
      <vt:lpstr>Trigonometric Projection &amp; Local-to-Global Mapping</vt:lpstr>
      <vt:lpstr>Linear Intersection for Vertex Determination</vt:lpstr>
      <vt:lpstr>Vector Normalization &amp; Geometric Offsetting</vt:lpstr>
      <vt:lpstr>Orthogonal Distance for Material Assignment</vt:lpstr>
      <vt:lpstr>Input Variables: Global Scaling and Base Geometry</vt:lpstr>
      <vt:lpstr>Input Variables: Cut and Hinge Geometry</vt:lpstr>
      <vt:lpstr>Input Variables: Material and Mesh Properties</vt:lpstr>
      <vt:lpstr>Week 4 &amp; 5</vt:lpstr>
      <vt:lpstr>Script (modifications)</vt:lpstr>
      <vt:lpstr>Script (modifications)</vt:lpstr>
      <vt:lpstr>Script CAE Visualization</vt:lpstr>
      <vt:lpstr>Spiral Fitting py code</vt:lpstr>
      <vt:lpstr>Plotting Spiral Deformation</vt:lpstr>
      <vt:lpstr>Mapping Spiral issue</vt:lpstr>
      <vt:lpstr>Mapping Spiral Deformation</vt:lpstr>
      <vt:lpstr>Mapping Spiral Deformation plot</vt:lpstr>
      <vt:lpstr>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Curling Spiral (Outer Spine)</dc:title>
  <dc:creator>Abdul Rehman</dc:creator>
  <cp:lastModifiedBy>Abdul Rehman</cp:lastModifiedBy>
  <cp:revision>70</cp:revision>
  <dcterms:created xsi:type="dcterms:W3CDTF">2026-02-04T13:07:41Z</dcterms:created>
  <dcterms:modified xsi:type="dcterms:W3CDTF">2026-09-16T18:58:44Z</dcterms:modified>
</cp:coreProperties>
</file>